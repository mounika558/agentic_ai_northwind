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56" r:id="rId2"/>
    <p:sldId id="260" r:id="rId3"/>
    <p:sldId id="282" r:id="rId4"/>
    <p:sldId id="276" r:id="rId5"/>
    <p:sldId id="261" r:id="rId6"/>
    <p:sldId id="262" r:id="rId7"/>
    <p:sldId id="263" r:id="rId8"/>
    <p:sldId id="266" r:id="rId9"/>
    <p:sldId id="264" r:id="rId10"/>
    <p:sldId id="265" r:id="rId11"/>
    <p:sldId id="267" r:id="rId12"/>
    <p:sldId id="268" r:id="rId13"/>
    <p:sldId id="277" r:id="rId14"/>
    <p:sldId id="278" r:id="rId15"/>
    <p:sldId id="279" r:id="rId16"/>
    <p:sldId id="280" r:id="rId17"/>
    <p:sldId id="285" r:id="rId18"/>
    <p:sldId id="284" r:id="rId19"/>
    <p:sldId id="274" r:id="rId20"/>
    <p:sldId id="281" r:id="rId21"/>
    <p:sldId id="271" r:id="rId22"/>
    <p:sldId id="273" r:id="rId23"/>
    <p:sldId id="275"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14" autoAdjust="0"/>
    <p:restoredTop sz="94660"/>
  </p:normalViewPr>
  <p:slideViewPr>
    <p:cSldViewPr snapToGrid="0">
      <p:cViewPr>
        <p:scale>
          <a:sx n="100" d="100"/>
          <a:sy n="100" d="100"/>
        </p:scale>
        <p:origin x="-29" y="-37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DFC51E4-6983-40AA-9627-34E5D5442072}" type="datetimeFigureOut">
              <a:rPr lang="en-US" smtClean="0"/>
              <a:t>8/16/2026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889A4-8945-47F6-A3DF-D5B79FEB60E5}"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109251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DFC51E4-6983-40AA-9627-34E5D5442072}" type="datetimeFigureOut">
              <a:rPr lang="en-US" smtClean="0"/>
              <a:t>8/16/2026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889A4-8945-47F6-A3DF-D5B79FEB60E5}" type="slidenum">
              <a:rPr lang="en-US" smtClean="0"/>
              <a:t>‹#›</a:t>
            </a:fld>
            <a:endParaRPr lang="en-US"/>
          </a:p>
        </p:txBody>
      </p:sp>
    </p:spTree>
    <p:extLst>
      <p:ext uri="{BB962C8B-B14F-4D97-AF65-F5344CB8AC3E}">
        <p14:creationId xmlns:p14="http://schemas.microsoft.com/office/powerpoint/2010/main" val="7024267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ADFC51E4-6983-40AA-9627-34E5D5442072}" type="datetimeFigureOut">
              <a:rPr lang="en-US" smtClean="0"/>
              <a:t>8/16/2026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889A4-8945-47F6-A3DF-D5B79FEB60E5}"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95737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DFC51E4-6983-40AA-9627-34E5D5442072}" type="datetimeFigureOut">
              <a:rPr lang="en-US" smtClean="0"/>
              <a:t>8/16/2026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889A4-8945-47F6-A3DF-D5B79FEB60E5}" type="slidenum">
              <a:rPr lang="en-US" smtClean="0"/>
              <a:t>‹#›</a:t>
            </a:fld>
            <a:endParaRPr lang="en-US"/>
          </a:p>
        </p:txBody>
      </p:sp>
    </p:spTree>
    <p:extLst>
      <p:ext uri="{BB962C8B-B14F-4D97-AF65-F5344CB8AC3E}">
        <p14:creationId xmlns:p14="http://schemas.microsoft.com/office/powerpoint/2010/main" val="34774188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DFC51E4-6983-40AA-9627-34E5D5442072}" type="datetimeFigureOut">
              <a:rPr lang="en-US" smtClean="0"/>
              <a:t>8/16/2026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82889A4-8945-47F6-A3DF-D5B79FEB60E5}" type="slidenum">
              <a:rPr lang="en-US" smtClean="0"/>
              <a:t>‹#›</a:t>
            </a:fld>
            <a:endParaRPr lang="en-US"/>
          </a:p>
        </p:txBody>
      </p:sp>
    </p:spTree>
    <p:extLst>
      <p:ext uri="{BB962C8B-B14F-4D97-AF65-F5344CB8AC3E}">
        <p14:creationId xmlns:p14="http://schemas.microsoft.com/office/powerpoint/2010/main" val="19170110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DFC51E4-6983-40AA-9627-34E5D5442072}" type="datetimeFigureOut">
              <a:rPr lang="en-US" smtClean="0"/>
              <a:t>8/16/2026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82889A4-8945-47F6-A3DF-D5B79FEB60E5}" type="slidenum">
              <a:rPr lang="en-US" smtClean="0"/>
              <a:t>‹#›</a:t>
            </a:fld>
            <a:endParaRPr lang="en-US"/>
          </a:p>
        </p:txBody>
      </p:sp>
    </p:spTree>
    <p:extLst>
      <p:ext uri="{BB962C8B-B14F-4D97-AF65-F5344CB8AC3E}">
        <p14:creationId xmlns:p14="http://schemas.microsoft.com/office/powerpoint/2010/main" val="41440059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ADFC51E4-6983-40AA-9627-34E5D5442072}" type="datetimeFigureOut">
              <a:rPr lang="en-US" smtClean="0"/>
              <a:t>8/16/2026</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B82889A4-8945-47F6-A3DF-D5B79FEB60E5}" type="slidenum">
              <a:rPr lang="en-US" smtClean="0"/>
              <a:t>‹#›</a:t>
            </a:fld>
            <a:endParaRPr lang="en-US"/>
          </a:p>
        </p:txBody>
      </p:sp>
    </p:spTree>
    <p:extLst>
      <p:ext uri="{BB962C8B-B14F-4D97-AF65-F5344CB8AC3E}">
        <p14:creationId xmlns:p14="http://schemas.microsoft.com/office/powerpoint/2010/main" val="14808199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ADFC51E4-6983-40AA-9627-34E5D5442072}" type="datetimeFigureOut">
              <a:rPr lang="en-US" smtClean="0"/>
              <a:t>8/16/2026</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B82889A4-8945-47F6-A3DF-D5B79FEB60E5}" type="slidenum">
              <a:rPr lang="en-US" smtClean="0"/>
              <a:t>‹#›</a:t>
            </a:fld>
            <a:endParaRPr lang="en-US"/>
          </a:p>
        </p:txBody>
      </p:sp>
    </p:spTree>
    <p:extLst>
      <p:ext uri="{BB962C8B-B14F-4D97-AF65-F5344CB8AC3E}">
        <p14:creationId xmlns:p14="http://schemas.microsoft.com/office/powerpoint/2010/main" val="4171812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ADFC51E4-6983-40AA-9627-34E5D5442072}" type="datetimeFigureOut">
              <a:rPr lang="en-US" smtClean="0"/>
              <a:t>8/16/2026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889A4-8945-47F6-A3DF-D5B79FEB60E5}" type="slidenum">
              <a:rPr lang="en-US" smtClean="0"/>
              <a:t>‹#›</a:t>
            </a:fld>
            <a:endParaRPr lang="en-US"/>
          </a:p>
        </p:txBody>
      </p:sp>
    </p:spTree>
    <p:extLst>
      <p:ext uri="{BB962C8B-B14F-4D97-AF65-F5344CB8AC3E}">
        <p14:creationId xmlns:p14="http://schemas.microsoft.com/office/powerpoint/2010/main" val="19679782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DFC51E4-6983-40AA-9627-34E5D5442072}" type="datetimeFigureOut">
              <a:rPr lang="en-US" smtClean="0"/>
              <a:t>8/16/2026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889A4-8945-47F6-A3DF-D5B79FEB60E5}" type="slidenum">
              <a:rPr lang="en-US" smtClean="0"/>
              <a:t>‹#›</a:t>
            </a:fld>
            <a:endParaRPr lang="en-US"/>
          </a:p>
        </p:txBody>
      </p:sp>
    </p:spTree>
    <p:extLst>
      <p:ext uri="{BB962C8B-B14F-4D97-AF65-F5344CB8AC3E}">
        <p14:creationId xmlns:p14="http://schemas.microsoft.com/office/powerpoint/2010/main" val="20994543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DFC51E4-6983-40AA-9627-34E5D5442072}" type="datetimeFigureOut">
              <a:rPr lang="en-US" smtClean="0"/>
              <a:t>8/16/2026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889A4-8945-47F6-A3DF-D5B79FEB60E5}" type="slidenum">
              <a:rPr lang="en-US" smtClean="0"/>
              <a:t>‹#›</a:t>
            </a:fld>
            <a:endParaRPr lang="en-US"/>
          </a:p>
        </p:txBody>
      </p:sp>
    </p:spTree>
    <p:extLst>
      <p:ext uri="{BB962C8B-B14F-4D97-AF65-F5344CB8AC3E}">
        <p14:creationId xmlns:p14="http://schemas.microsoft.com/office/powerpoint/2010/main" val="34014088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ADFC51E4-6983-40AA-9627-34E5D5442072}" type="datetimeFigureOut">
              <a:rPr lang="en-US" smtClean="0"/>
              <a:t>8/16/2026</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B82889A4-8945-47F6-A3DF-D5B79FEB60E5}"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53287503"/>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hyperlink" Target="mailto:mounikakishor2775@gmail.com"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 Id="rId5" Type="http://schemas.openxmlformats.org/officeDocument/2006/relationships/image" Target="../media/image19.png"/><Relationship Id="rId4" Type="http://schemas.openxmlformats.org/officeDocument/2006/relationships/image" Target="../media/image18.png"/></Relationships>
</file>

<file path=ppt/slides/_rels/slide1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7.xml"/><Relationship Id="rId4" Type="http://schemas.openxmlformats.org/officeDocument/2006/relationships/image" Target="../media/image24.png"/></Relationships>
</file>

<file path=ppt/slides/_rels/slide2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7.xml"/><Relationship Id="rId4" Type="http://schemas.openxmlformats.org/officeDocument/2006/relationships/image" Target="../media/image2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98F929-7426-4B8E-9BEE-65B632FC6E3E}"/>
              </a:ext>
            </a:extLst>
          </p:cNvPr>
          <p:cNvSpPr>
            <a:spLocks noGrp="1"/>
          </p:cNvSpPr>
          <p:nvPr>
            <p:ph type="ctrTitle"/>
          </p:nvPr>
        </p:nvSpPr>
        <p:spPr>
          <a:xfrm>
            <a:off x="1636295" y="657725"/>
            <a:ext cx="9144000" cy="4668253"/>
          </a:xfrm>
        </p:spPr>
        <p:txBody>
          <a:bodyPr>
            <a:normAutofit/>
          </a:bodyPr>
          <a:lstStyle/>
          <a:p>
            <a:r>
              <a:rPr lang="en-US" sz="6000" b="1" dirty="0" err="1">
                <a:latin typeface="Times New Roman" panose="02020603050405020304" pitchFamily="18" charset="0"/>
                <a:cs typeface="Times New Roman" panose="02020603050405020304" pitchFamily="18" charset="0"/>
              </a:rPr>
              <a:t>JouleOps</a:t>
            </a:r>
            <a:r>
              <a:rPr lang="en-US" sz="6000" b="1" dirty="0">
                <a:latin typeface="Times New Roman" panose="02020603050405020304" pitchFamily="18" charset="0"/>
                <a:cs typeface="Times New Roman" panose="02020603050405020304" pitchFamily="18" charset="0"/>
              </a:rPr>
              <a:t> @ Northwind Manufacturing</a:t>
            </a:r>
            <a:br>
              <a:rPr lang="en-US" b="1"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 </a:t>
            </a:r>
            <a:r>
              <a:rPr lang="en-US" sz="2000" b="1" i="1" dirty="0">
                <a:solidFill>
                  <a:schemeClr val="bg1">
                    <a:lumMod val="50000"/>
                  </a:schemeClr>
                </a:solidFill>
                <a:latin typeface="Times New Roman" panose="02020603050405020304" pitchFamily="18" charset="0"/>
                <a:cs typeface="Times New Roman" panose="02020603050405020304" pitchFamily="18" charset="0"/>
              </a:rPr>
              <a:t>Agentic AI Enterprise Assistant System</a:t>
            </a: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9093037D-DEAC-40FB-973B-502EC8AC6310}"/>
              </a:ext>
            </a:extLst>
          </p:cNvPr>
          <p:cNvSpPr txBox="1"/>
          <p:nvPr/>
        </p:nvSpPr>
        <p:spPr>
          <a:xfrm>
            <a:off x="1909482" y="4536142"/>
            <a:ext cx="6956613" cy="369332"/>
          </a:xfrm>
          <a:prstGeom prst="rect">
            <a:avLst/>
          </a:prstGeom>
          <a:noFill/>
        </p:spPr>
        <p:txBody>
          <a:bodyPr wrap="square" rtlCol="0">
            <a:spAutoFit/>
          </a:bodyPr>
          <a:lstStyle/>
          <a:p>
            <a:r>
              <a:rPr lang="en-US" b="1" dirty="0">
                <a:solidFill>
                  <a:schemeClr val="bg2">
                    <a:lumMod val="50000"/>
                  </a:schemeClr>
                </a:solidFill>
                <a:latin typeface="Times New Roman" panose="02020603050405020304" pitchFamily="18" charset="0"/>
                <a:cs typeface="Times New Roman" panose="02020603050405020304" pitchFamily="18" charset="0"/>
              </a:rPr>
              <a:t>SAP Joule Studio | SAP Hana Cloud |Python Fast API | MCP Server </a:t>
            </a:r>
          </a:p>
        </p:txBody>
      </p:sp>
      <p:sp>
        <p:nvSpPr>
          <p:cNvPr id="5" name="TextBox 4">
            <a:extLst>
              <a:ext uri="{FF2B5EF4-FFF2-40B4-BE49-F238E27FC236}">
                <a16:creationId xmlns:a16="http://schemas.microsoft.com/office/drawing/2014/main" id="{BF9E1135-CC16-4276-B692-4F925DCBE471}"/>
              </a:ext>
            </a:extLst>
          </p:cNvPr>
          <p:cNvSpPr txBox="1"/>
          <p:nvPr/>
        </p:nvSpPr>
        <p:spPr>
          <a:xfrm>
            <a:off x="1909482" y="5024648"/>
            <a:ext cx="3944471" cy="1023165"/>
          </a:xfrm>
          <a:prstGeom prst="rect">
            <a:avLst/>
          </a:prstGeom>
          <a:noFill/>
        </p:spPr>
        <p:txBody>
          <a:bodyPr wrap="square" rtlCol="0">
            <a:spAutoFit/>
          </a:bodyPr>
          <a:lstStyle/>
          <a:p>
            <a:pPr>
              <a:lnSpc>
                <a:spcPct val="150000"/>
              </a:lnSpc>
            </a:pPr>
            <a:r>
              <a:rPr lang="en-US" sz="1400" i="1" dirty="0">
                <a:solidFill>
                  <a:schemeClr val="tx1">
                    <a:lumMod val="95000"/>
                    <a:lumOff val="5000"/>
                  </a:schemeClr>
                </a:solidFill>
                <a:latin typeface="Times New Roman" panose="02020603050405020304" pitchFamily="18" charset="0"/>
                <a:cs typeface="Times New Roman" panose="02020603050405020304" pitchFamily="18" charset="0"/>
              </a:rPr>
              <a:t>By Mounika D</a:t>
            </a:r>
          </a:p>
          <a:p>
            <a:pPr>
              <a:lnSpc>
                <a:spcPct val="150000"/>
              </a:lnSpc>
            </a:pPr>
            <a:r>
              <a:rPr lang="en-US" sz="1400" i="1" dirty="0">
                <a:solidFill>
                  <a:schemeClr val="tx1">
                    <a:lumMod val="95000"/>
                    <a:lumOff val="5000"/>
                  </a:schemeClr>
                </a:solidFill>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mounikakishor2775@gmail.com</a:t>
            </a:r>
            <a:endParaRPr lang="en-US" sz="1400" i="1" dirty="0">
              <a:solidFill>
                <a:schemeClr val="tx1">
                  <a:lumMod val="95000"/>
                  <a:lumOff val="5000"/>
                </a:schemeClr>
              </a:solidFill>
              <a:latin typeface="Times New Roman" panose="02020603050405020304" pitchFamily="18" charset="0"/>
              <a:cs typeface="Times New Roman" panose="02020603050405020304" pitchFamily="18" charset="0"/>
            </a:endParaRPr>
          </a:p>
          <a:p>
            <a:pPr>
              <a:lnSpc>
                <a:spcPct val="150000"/>
              </a:lnSpc>
            </a:pPr>
            <a:r>
              <a:rPr lang="en-US" sz="1400" i="1" dirty="0">
                <a:solidFill>
                  <a:schemeClr val="tx1">
                    <a:lumMod val="95000"/>
                    <a:lumOff val="5000"/>
                  </a:schemeClr>
                </a:solidFill>
                <a:latin typeface="Times New Roman" panose="02020603050405020304" pitchFamily="18" charset="0"/>
                <a:cs typeface="Times New Roman" panose="02020603050405020304" pitchFamily="18" charset="0"/>
              </a:rPr>
              <a:t>SAP BTP AI Development - Stream</a:t>
            </a:r>
          </a:p>
        </p:txBody>
      </p:sp>
      <p:sp>
        <p:nvSpPr>
          <p:cNvPr id="6" name="TextBox 5">
            <a:extLst>
              <a:ext uri="{FF2B5EF4-FFF2-40B4-BE49-F238E27FC236}">
                <a16:creationId xmlns:a16="http://schemas.microsoft.com/office/drawing/2014/main" id="{0C461455-4B92-4560-9AA4-0062DD3B71CD}"/>
              </a:ext>
            </a:extLst>
          </p:cNvPr>
          <p:cNvSpPr txBox="1"/>
          <p:nvPr/>
        </p:nvSpPr>
        <p:spPr>
          <a:xfrm>
            <a:off x="4105834" y="426892"/>
            <a:ext cx="5746377" cy="461665"/>
          </a:xfrm>
          <a:prstGeom prst="rect">
            <a:avLst/>
          </a:prstGeom>
          <a:noFill/>
        </p:spPr>
        <p:txBody>
          <a:bodyPr wrap="square" rtlCol="0">
            <a:spAutoFit/>
          </a:bodyPr>
          <a:lstStyle/>
          <a:p>
            <a:r>
              <a:rPr lang="en-US" sz="2400" b="1" dirty="0">
                <a:solidFill>
                  <a:schemeClr val="bg2">
                    <a:lumMod val="50000"/>
                  </a:schemeClr>
                </a:solidFill>
                <a:latin typeface="Times New Roman" panose="02020603050405020304" pitchFamily="18" charset="0"/>
                <a:cs typeface="Times New Roman" panose="02020603050405020304" pitchFamily="18" charset="0"/>
              </a:rPr>
              <a:t>Capstone Project Presentation</a:t>
            </a:r>
          </a:p>
        </p:txBody>
      </p:sp>
      <p:pic>
        <p:nvPicPr>
          <p:cNvPr id="8196" name="Picture 4" descr="Agentic AI Services | Autonomous AI Solutions for Smarter ...">
            <a:extLst>
              <a:ext uri="{FF2B5EF4-FFF2-40B4-BE49-F238E27FC236}">
                <a16:creationId xmlns:a16="http://schemas.microsoft.com/office/drawing/2014/main" id="{F19F9E17-1923-4817-B504-343C49BB995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84155" y="2894479"/>
            <a:ext cx="1943100" cy="1409700"/>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3E6D4EA1-40CD-4F1A-B03F-5A1095B5E83F}"/>
              </a:ext>
            </a:extLst>
          </p:cNvPr>
          <p:cNvSpPr txBox="1"/>
          <p:nvPr/>
        </p:nvSpPr>
        <p:spPr>
          <a:xfrm>
            <a:off x="8260080" y="5172089"/>
            <a:ext cx="2461260" cy="307777"/>
          </a:xfrm>
          <a:prstGeom prst="rect">
            <a:avLst/>
          </a:prstGeom>
          <a:noFill/>
        </p:spPr>
        <p:txBody>
          <a:bodyPr wrap="square" rtlCol="0">
            <a:spAutoFit/>
          </a:bodyPr>
          <a:lstStyle/>
          <a:p>
            <a:r>
              <a:rPr lang="en-US" sz="1400" i="1" dirty="0">
                <a:latin typeface="Times New Roman" panose="02020603050405020304" pitchFamily="18" charset="0"/>
                <a:cs typeface="Times New Roman" panose="02020603050405020304" pitchFamily="18" charset="0"/>
              </a:rPr>
              <a:t>Mentor :Prem Pratik</a:t>
            </a:r>
          </a:p>
        </p:txBody>
      </p:sp>
    </p:spTree>
    <p:extLst>
      <p:ext uri="{BB962C8B-B14F-4D97-AF65-F5344CB8AC3E}">
        <p14:creationId xmlns:p14="http://schemas.microsoft.com/office/powerpoint/2010/main" val="4285806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a:extLst>
              <a:ext uri="{FF2B5EF4-FFF2-40B4-BE49-F238E27FC236}">
                <a16:creationId xmlns:a16="http://schemas.microsoft.com/office/drawing/2014/main" id="{EAA748C0-99E3-4C9D-A90C-4DC2D1FA5D54}"/>
              </a:ext>
            </a:extLst>
          </p:cNvPr>
          <p:cNvSpPr>
            <a:spLocks noChangeArrowheads="1"/>
          </p:cNvSpPr>
          <p:nvPr/>
        </p:nvSpPr>
        <p:spPr bwMode="auto">
          <a:xfrm rot="10800000" flipV="1">
            <a:off x="438665" y="1501435"/>
            <a:ext cx="11314670" cy="33718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just" defTabSz="914400" eaLnBrk="0" fontAlgn="base" hangingPunct="0">
              <a:lnSpc>
                <a:spcPct val="150000"/>
              </a:lnSpc>
              <a:spcBef>
                <a:spcPct val="0"/>
              </a:spcBef>
              <a:spcAft>
                <a:spcPct val="0"/>
              </a:spcAft>
            </a:pPr>
            <a:r>
              <a:rPr lang="en-US" dirty="0" err="1">
                <a:latin typeface="Times New Roman" panose="02020603050405020304" pitchFamily="18" charset="0"/>
                <a:cs typeface="Times New Roman" panose="02020603050405020304" pitchFamily="18" charset="0"/>
              </a:rPr>
              <a:t>NorthWind</a:t>
            </a:r>
            <a:r>
              <a:rPr lang="en-US" dirty="0">
                <a:latin typeface="Times New Roman" panose="02020603050405020304" pitchFamily="18" charset="0"/>
                <a:cs typeface="Times New Roman" panose="02020603050405020304" pitchFamily="18" charset="0"/>
              </a:rPr>
              <a:t> Manufacturing, a mid-sized industrial equipment manufacturer with 4 plants and ~300 B2B customers, stores all its operational data in SAP HANA Cloud, but employees still rely on slow, manual, multi-system processes — plant supervisors check stock across multiple SAP transactions, sales managers wait days for reports, and finance staff manually chase overdue invoices in Excel. The project requires building </a:t>
            </a:r>
            <a:r>
              <a:rPr lang="en-US" dirty="0" err="1">
                <a:latin typeface="Times New Roman" panose="02020603050405020304" pitchFamily="18" charset="0"/>
                <a:cs typeface="Times New Roman" panose="02020603050405020304" pitchFamily="18" charset="0"/>
              </a:rPr>
              <a:t>JouleOps</a:t>
            </a:r>
            <a:r>
              <a:rPr lang="en-US" dirty="0">
                <a:latin typeface="Times New Roman" panose="02020603050405020304" pitchFamily="18" charset="0"/>
                <a:cs typeface="Times New Roman" panose="02020603050405020304" pitchFamily="18" charset="0"/>
              </a:rPr>
              <a:t>, a conversational AI assistant inside SAP Joule that understands natural-language requests, automatically picks the right tool (Joule Skill or MCP tool) to fetch or update data from SAP HANA Cloud via a Python </a:t>
            </a:r>
            <a:r>
              <a:rPr lang="en-US" dirty="0" err="1">
                <a:latin typeface="Times New Roman" panose="02020603050405020304" pitchFamily="18" charset="0"/>
                <a:cs typeface="Times New Roman" panose="02020603050405020304" pitchFamily="18" charset="0"/>
              </a:rPr>
              <a:t>FastAPI</a:t>
            </a:r>
            <a:r>
              <a:rPr lang="en-US" dirty="0">
                <a:latin typeface="Times New Roman" panose="02020603050405020304" pitchFamily="18" charset="0"/>
                <a:cs typeface="Times New Roman" panose="02020603050405020304" pitchFamily="18" charset="0"/>
              </a:rPr>
              <a:t> service, responds with accurate source-backed answers, and takes real actions like raising tickets — all under strict governance rules covering credential security, write auditability, and SAP-native tooling.</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12" name="Rectangle 7">
            <a:extLst>
              <a:ext uri="{FF2B5EF4-FFF2-40B4-BE49-F238E27FC236}">
                <a16:creationId xmlns:a16="http://schemas.microsoft.com/office/drawing/2014/main" id="{9013B737-979C-411B-BEAA-F5D1DAC3CB28}"/>
              </a:ext>
            </a:extLst>
          </p:cNvPr>
          <p:cNvSpPr>
            <a:spLocks noChangeArrowheads="1"/>
          </p:cNvSpPr>
          <p:nvPr/>
        </p:nvSpPr>
        <p:spPr bwMode="auto">
          <a:xfrm rot="10800000" flipV="1">
            <a:off x="438665" y="488396"/>
            <a:ext cx="11314670" cy="6612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defTabSz="914400" eaLnBrk="0" fontAlgn="base" hangingPunct="0">
              <a:lnSpc>
                <a:spcPct val="150000"/>
              </a:lnSpc>
              <a:spcBef>
                <a:spcPct val="0"/>
              </a:spcBef>
              <a:spcAft>
                <a:spcPct val="0"/>
              </a:spcAft>
            </a:pP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Problem Statement</a:t>
            </a:r>
          </a:p>
        </p:txBody>
      </p:sp>
    </p:spTree>
    <p:extLst>
      <p:ext uri="{BB962C8B-B14F-4D97-AF65-F5344CB8AC3E}">
        <p14:creationId xmlns:p14="http://schemas.microsoft.com/office/powerpoint/2010/main" val="15401395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B8F8645-53CD-4FDC-87BC-DDFAC0182F0A}"/>
              </a:ext>
            </a:extLst>
          </p:cNvPr>
          <p:cNvPicPr>
            <a:picLocks noChangeAspect="1"/>
          </p:cNvPicPr>
          <p:nvPr/>
        </p:nvPicPr>
        <p:blipFill>
          <a:blip r:embed="rId2"/>
          <a:stretch>
            <a:fillRect/>
          </a:stretch>
        </p:blipFill>
        <p:spPr>
          <a:xfrm>
            <a:off x="351966" y="716279"/>
            <a:ext cx="11199954" cy="4733261"/>
          </a:xfrm>
          <a:prstGeom prst="rect">
            <a:avLst/>
          </a:prstGeom>
        </p:spPr>
      </p:pic>
    </p:spTree>
    <p:extLst>
      <p:ext uri="{BB962C8B-B14F-4D97-AF65-F5344CB8AC3E}">
        <p14:creationId xmlns:p14="http://schemas.microsoft.com/office/powerpoint/2010/main" val="11556154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4386110-3574-4B6C-A40F-EAC94490F9A4}"/>
              </a:ext>
            </a:extLst>
          </p:cNvPr>
          <p:cNvSpPr>
            <a:spLocks noChangeArrowheads="1"/>
          </p:cNvSpPr>
          <p:nvPr/>
        </p:nvSpPr>
        <p:spPr bwMode="auto">
          <a:xfrm>
            <a:off x="272716" y="706973"/>
            <a:ext cx="11309684" cy="5444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This capstone project presents the design and implementation of an agentic AI assistant called </a:t>
            </a:r>
            <a:r>
              <a:rPr kumimoji="0" lang="en-US" altLang="en-US"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JouleOps</a:t>
            </a: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built using SAP Joule Studio Agents, SAP HANA Cloud, Python </a:t>
            </a:r>
            <a:r>
              <a:rPr kumimoji="0" lang="en-US" altLang="en-US"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FastAPI</a:t>
            </a: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a custom Model Context Protocol (MCP) Server. The solution is designed for </a:t>
            </a:r>
            <a:r>
              <a:rPr kumimoji="0" lang="en-US" altLang="en-US"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NorthWind</a:t>
            </a: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Manufacturing Pvt. Ltd., a mid-sized Indian industrial equipment company. It shows how enterprise AI can automate business operations and provide accurate, data-based answers in simple conversational language.</a:t>
            </a:r>
          </a:p>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JouleOps</a:t>
            </a: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is designed to work inside the SAP Build Joule chat interface, which employees can use for their daily work. It understands requests written in natural language and connects them to the appropriate Joule Skill or MCP tool. These tools communicate with a Python </a:t>
            </a:r>
            <a:r>
              <a:rPr kumimoji="0" lang="en-US" altLang="en-US"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FastAPI</a:t>
            </a: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which reads or updates data in SAP HANA Cloud and returns a clear response to the user.</a:t>
            </a:r>
          </a:p>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solution also focuses on security and governance. HANA credentials are never exposed to the LLM, write operations are recorded in the AUDIT_LOG table, and business operations are controlled through defined APIs and tools. This architecture provides a secure and scalable foundation for connecting conversational AI with enterprise data and business processes.</a:t>
            </a:r>
          </a:p>
        </p:txBody>
      </p:sp>
      <p:sp>
        <p:nvSpPr>
          <p:cNvPr id="3" name="TextBox 2">
            <a:extLst>
              <a:ext uri="{FF2B5EF4-FFF2-40B4-BE49-F238E27FC236}">
                <a16:creationId xmlns:a16="http://schemas.microsoft.com/office/drawing/2014/main" id="{3344237A-1B44-4022-940F-3E11569E0B3E}"/>
              </a:ext>
            </a:extLst>
          </p:cNvPr>
          <p:cNvSpPr txBox="1"/>
          <p:nvPr/>
        </p:nvSpPr>
        <p:spPr>
          <a:xfrm>
            <a:off x="272716" y="77887"/>
            <a:ext cx="6481011" cy="646331"/>
          </a:xfrm>
          <a:prstGeom prst="rect">
            <a:avLst/>
          </a:prstGeom>
          <a:noFill/>
        </p:spPr>
        <p:txBody>
          <a:bodyPr wrap="square" rtlCol="0">
            <a:spAutoFit/>
          </a:bodyPr>
          <a:lstStyle/>
          <a:p>
            <a:r>
              <a:rPr lang="en-US" sz="3600" b="1" dirty="0">
                <a:latin typeface="Times New Roman" panose="02020603050405020304" pitchFamily="18" charset="0"/>
                <a:cs typeface="Times New Roman" panose="02020603050405020304" pitchFamily="18" charset="0"/>
              </a:rPr>
              <a:t>Introduction</a:t>
            </a:r>
          </a:p>
        </p:txBody>
      </p:sp>
    </p:spTree>
    <p:extLst>
      <p:ext uri="{BB962C8B-B14F-4D97-AF65-F5344CB8AC3E}">
        <p14:creationId xmlns:p14="http://schemas.microsoft.com/office/powerpoint/2010/main" val="38632826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9886B65-1CDB-4368-A35D-FCFF354946A6}"/>
              </a:ext>
            </a:extLst>
          </p:cNvPr>
          <p:cNvSpPr txBox="1"/>
          <p:nvPr/>
        </p:nvSpPr>
        <p:spPr>
          <a:xfrm>
            <a:off x="961767" y="506627"/>
            <a:ext cx="10268465" cy="5351721"/>
          </a:xfrm>
          <a:prstGeom prst="rect">
            <a:avLst/>
          </a:prstGeom>
          <a:noFill/>
        </p:spPr>
        <p:txBody>
          <a:bodyPr wrap="square" rtlCol="0">
            <a:spAutoFit/>
          </a:bodyPr>
          <a:lstStyle/>
          <a:p>
            <a:pPr lvl="0">
              <a:lnSpc>
                <a:spcPct val="150000"/>
              </a:lnSpc>
            </a:pPr>
            <a:r>
              <a:rPr lang="en-US" sz="3200" b="1" dirty="0">
                <a:latin typeface="Times New Roman" panose="02020603050405020304" pitchFamily="18" charset="0"/>
                <a:cs typeface="Times New Roman" panose="02020603050405020304" pitchFamily="18" charset="0"/>
              </a:rPr>
              <a:t>Objective</a:t>
            </a:r>
          </a:p>
          <a:p>
            <a:pPr marL="285750" lvl="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Create and configure a SAP HANA Cloud instance in SAP BTP.</a:t>
            </a:r>
          </a:p>
          <a:p>
            <a:pPr marL="285750" lvl="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Design relational tables for materials, customers, sales orders, invoices, tickets, and audit logs.</a:t>
            </a:r>
          </a:p>
          <a:p>
            <a:pPr marL="285750" lvl="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Generate synthetic enterprise data and load it into SAP HANA Cloud.</a:t>
            </a:r>
          </a:p>
          <a:p>
            <a:pPr marL="285750" lvl="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Develop Fast API endpoints that perform real database operations.</a:t>
            </a:r>
          </a:p>
          <a:p>
            <a:pPr marL="285750" lvl="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Connect the backend to SAP HANA Cloud using Python database connectivity(</a:t>
            </a:r>
            <a:r>
              <a:rPr lang="en-US" dirty="0" err="1">
                <a:latin typeface="Times New Roman" panose="02020603050405020304" pitchFamily="18" charset="0"/>
                <a:cs typeface="Times New Roman" panose="02020603050405020304" pitchFamily="18" charset="0"/>
              </a:rPr>
              <a:t>hdbcli</a:t>
            </a:r>
            <a:r>
              <a:rPr lang="en-US" dirty="0">
                <a:latin typeface="Times New Roman" panose="02020603050405020304" pitchFamily="18" charset="0"/>
                <a:cs typeface="Times New Roman" panose="02020603050405020304" pitchFamily="18" charset="0"/>
              </a:rPr>
              <a:t>).</a:t>
            </a:r>
          </a:p>
          <a:p>
            <a:pPr marL="285750" lvl="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Create a BTP Destination for the backend service.</a:t>
            </a:r>
          </a:p>
          <a:p>
            <a:pPr marL="285750" lvl="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Create Joule Skills representing selected business operations.</a:t>
            </a:r>
          </a:p>
          <a:p>
            <a:pPr marL="285750" lvl="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Demonstrate an end-to-end flow from business request to API execution and HANA response(five scenarios).</a:t>
            </a:r>
          </a:p>
          <a:p>
            <a:pPr marL="285750" lvl="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Enforce all three of Meena's guardrails: credential isolation, full audit trail, SAP-native reasoning</a:t>
            </a:r>
          </a:p>
          <a:p>
            <a:pPr marL="285750" indent="-285750">
              <a:lnSpc>
                <a:spcPct val="150000"/>
              </a:lnSpc>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287410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ACFA8AC-32BA-4EB7-BEE3-493AB5C4D0DF}"/>
              </a:ext>
            </a:extLst>
          </p:cNvPr>
          <p:cNvSpPr txBox="1"/>
          <p:nvPr/>
        </p:nvSpPr>
        <p:spPr>
          <a:xfrm>
            <a:off x="654908" y="1050324"/>
            <a:ext cx="9811265" cy="1477328"/>
          </a:xfrm>
          <a:prstGeom prst="rect">
            <a:avLst/>
          </a:prstGeom>
          <a:noFill/>
        </p:spPr>
        <p:txBody>
          <a:bodyPr wrap="square" rtlCol="0">
            <a:spAutoFit/>
          </a:bodyPr>
          <a:lstStyle/>
          <a:p>
            <a:endParaRPr lang="en-US" dirty="0"/>
          </a:p>
          <a:p>
            <a:endParaRPr lang="en-US" dirty="0"/>
          </a:p>
          <a:p>
            <a:endParaRPr lang="en-US" dirty="0"/>
          </a:p>
          <a:p>
            <a:endParaRPr lang="en-US" dirty="0"/>
          </a:p>
          <a:p>
            <a:endParaRPr lang="en-US" dirty="0"/>
          </a:p>
        </p:txBody>
      </p:sp>
      <p:sp>
        <p:nvSpPr>
          <p:cNvPr id="4" name="Rectangle 2">
            <a:extLst>
              <a:ext uri="{FF2B5EF4-FFF2-40B4-BE49-F238E27FC236}">
                <a16:creationId xmlns:a16="http://schemas.microsoft.com/office/drawing/2014/main" id="{802BB816-8DDA-4184-B71F-E6C957552A2A}"/>
              </a:ext>
            </a:extLst>
          </p:cNvPr>
          <p:cNvSpPr>
            <a:spLocks noChangeArrowheads="1"/>
          </p:cNvSpPr>
          <p:nvPr/>
        </p:nvSpPr>
        <p:spPr bwMode="auto">
          <a:xfrm rot="10800000" flipV="1">
            <a:off x="750055" y="318365"/>
            <a:ext cx="11022227" cy="50229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just" defTabSz="914400" rtl="0" eaLnBrk="0" fontAlgn="base" latinLnBrk="0" hangingPunct="0">
              <a:lnSpc>
                <a:spcPct val="150000"/>
              </a:lnSpc>
              <a:spcBef>
                <a:spcPct val="0"/>
              </a:spcBef>
              <a:spcAft>
                <a:spcPct val="0"/>
              </a:spcAft>
              <a:buClrTx/>
              <a:buSzTx/>
              <a:tabLst/>
            </a:pPr>
            <a:r>
              <a:rPr kumimoji="0" lang="en-US" altLang="en-US" sz="3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Pain Points</a:t>
            </a: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Plant supervisors walk between multiple SAP transactions daily just to check stock </a:t>
            </a: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Manual, delayed process to raise maintenance tickets (WhatsApp + separate ticketing system) </a:t>
            </a: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Sales managers wait days for weekly open-order reports from the BI team </a:t>
            </a: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Reports often don't arrive on time, delaying decision-making </a:t>
            </a: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Finance staff manually track overdue invoices in Excel — time-consuming and error-prone </a:t>
            </a: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No single, unified way to ask business questions in plain language </a:t>
            </a: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No automated, governed way to trigger actions (like ticket creation) from data insights </a:t>
            </a: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Sensitive HANA credentials and write operations lack built-in security/audit controls in current manual workflows </a:t>
            </a:r>
          </a:p>
        </p:txBody>
      </p:sp>
    </p:spTree>
    <p:extLst>
      <p:ext uri="{BB962C8B-B14F-4D97-AF65-F5344CB8AC3E}">
        <p14:creationId xmlns:p14="http://schemas.microsoft.com/office/powerpoint/2010/main" val="7498066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771C4A31-38D6-49C7-93AD-C488577E9A09}"/>
              </a:ext>
            </a:extLst>
          </p:cNvPr>
          <p:cNvSpPr txBox="1"/>
          <p:nvPr/>
        </p:nvSpPr>
        <p:spPr>
          <a:xfrm>
            <a:off x="670560" y="396240"/>
            <a:ext cx="10408920" cy="707886"/>
          </a:xfrm>
          <a:prstGeom prst="rect">
            <a:avLst/>
          </a:prstGeom>
          <a:noFill/>
        </p:spPr>
        <p:txBody>
          <a:bodyPr wrap="square" rtlCol="0">
            <a:spAutoFit/>
          </a:bodyPr>
          <a:lstStyle/>
          <a:p>
            <a:r>
              <a:rPr lang="en-US" sz="4000" b="1" dirty="0">
                <a:latin typeface="Times New Roman" panose="02020603050405020304" pitchFamily="18" charset="0"/>
                <a:cs typeface="Times New Roman" panose="02020603050405020304" pitchFamily="18" charset="0"/>
              </a:rPr>
              <a:t>Pain Points – the Personas</a:t>
            </a:r>
          </a:p>
        </p:txBody>
      </p:sp>
      <p:pic>
        <p:nvPicPr>
          <p:cNvPr id="15" name="Picture 14">
            <a:extLst>
              <a:ext uri="{FF2B5EF4-FFF2-40B4-BE49-F238E27FC236}">
                <a16:creationId xmlns:a16="http://schemas.microsoft.com/office/drawing/2014/main" id="{20E80B97-4512-4A4A-BE9D-0F750DC6FCF9}"/>
              </a:ext>
            </a:extLst>
          </p:cNvPr>
          <p:cNvPicPr>
            <a:picLocks noChangeAspect="1"/>
          </p:cNvPicPr>
          <p:nvPr/>
        </p:nvPicPr>
        <p:blipFill>
          <a:blip r:embed="rId2"/>
          <a:stretch>
            <a:fillRect/>
          </a:stretch>
        </p:blipFill>
        <p:spPr>
          <a:xfrm>
            <a:off x="477520" y="1251267"/>
            <a:ext cx="11521440" cy="4732501"/>
          </a:xfrm>
          <a:prstGeom prst="rect">
            <a:avLst/>
          </a:prstGeom>
        </p:spPr>
      </p:pic>
    </p:spTree>
    <p:extLst>
      <p:ext uri="{BB962C8B-B14F-4D97-AF65-F5344CB8AC3E}">
        <p14:creationId xmlns:p14="http://schemas.microsoft.com/office/powerpoint/2010/main" val="28549981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9391CC0-A977-4618-AED1-55AE3FBA2FED}"/>
              </a:ext>
            </a:extLst>
          </p:cNvPr>
          <p:cNvSpPr/>
          <p:nvPr/>
        </p:nvSpPr>
        <p:spPr>
          <a:xfrm>
            <a:off x="490151" y="398148"/>
            <a:ext cx="10272583" cy="1133965"/>
          </a:xfrm>
          <a:prstGeom prst="rect">
            <a:avLst/>
          </a:prstGeom>
        </p:spPr>
        <p:txBody>
          <a:bodyPr wrap="square">
            <a:spAutoFit/>
          </a:bodyPr>
          <a:lstStyle/>
          <a:p>
            <a:pPr algn="just">
              <a:lnSpc>
                <a:spcPct val="150000"/>
              </a:lnSpc>
            </a:pPr>
            <a:r>
              <a:rPr lang="en-US" sz="2400" b="1" dirty="0">
                <a:latin typeface="Times New Roman" panose="02020603050405020304" pitchFamily="18" charset="0"/>
                <a:cs typeface="Times New Roman" panose="02020603050405020304" pitchFamily="18" charset="0"/>
              </a:rPr>
              <a:t>Governance Rules (Meena's 3 Rules)</a:t>
            </a:r>
          </a:p>
          <a:p>
            <a:pPr algn="just">
              <a:lnSpc>
                <a:spcPct val="150000"/>
              </a:lnSpc>
            </a:pPr>
            <a:endParaRPr lang="en-US" sz="24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18A1A249-5A63-4B6C-9773-109E7DD79D59}"/>
              </a:ext>
            </a:extLst>
          </p:cNvPr>
          <p:cNvPicPr>
            <a:picLocks noChangeAspect="1"/>
          </p:cNvPicPr>
          <p:nvPr/>
        </p:nvPicPr>
        <p:blipFill rotWithShape="1">
          <a:blip r:embed="rId2"/>
          <a:srcRect r="2542"/>
          <a:stretch/>
        </p:blipFill>
        <p:spPr>
          <a:xfrm>
            <a:off x="838200" y="1077453"/>
            <a:ext cx="10515600" cy="3468784"/>
          </a:xfrm>
          <a:prstGeom prst="rect">
            <a:avLst/>
          </a:prstGeom>
        </p:spPr>
      </p:pic>
      <p:sp>
        <p:nvSpPr>
          <p:cNvPr id="3" name="Rectangle 2">
            <a:extLst>
              <a:ext uri="{FF2B5EF4-FFF2-40B4-BE49-F238E27FC236}">
                <a16:creationId xmlns:a16="http://schemas.microsoft.com/office/drawing/2014/main" id="{3334AB0C-23DF-49D3-B10A-17E4F3638699}"/>
              </a:ext>
            </a:extLst>
          </p:cNvPr>
          <p:cNvSpPr/>
          <p:nvPr/>
        </p:nvSpPr>
        <p:spPr>
          <a:xfrm>
            <a:off x="1821180" y="4781959"/>
            <a:ext cx="9814560" cy="887166"/>
          </a:xfrm>
          <a:prstGeom prst="rect">
            <a:avLst/>
          </a:prstGeom>
        </p:spPr>
        <p:txBody>
          <a:bodyPr wrap="square">
            <a:spAutoFit/>
          </a:bodyPr>
          <a:lstStyle/>
          <a:p>
            <a:pPr algn="just">
              <a:lnSpc>
                <a:spcPct val="120000"/>
              </a:lnSpc>
            </a:pPr>
            <a:r>
              <a:rPr lang="en-US" sz="1100" b="1" i="1" dirty="0">
                <a:solidFill>
                  <a:srgbClr val="1E2761"/>
                </a:solidFill>
                <a:latin typeface="Times New Roman" panose="02020603050405020304" pitchFamily="18" charset="0"/>
                <a:ea typeface="Calibri" pitchFamily="34" charset="-122"/>
                <a:cs typeface="Times New Roman" panose="02020603050405020304" pitchFamily="18" charset="0"/>
              </a:rPr>
              <a:t>Governance in the flow: </a:t>
            </a:r>
          </a:p>
          <a:p>
            <a:pPr marL="171450" indent="-171450" algn="just">
              <a:lnSpc>
                <a:spcPct val="120000"/>
              </a:lnSpc>
              <a:buFont typeface="Arial" panose="020B0604020202020204" pitchFamily="34" charset="0"/>
              <a:buChar char="•"/>
            </a:pPr>
            <a:r>
              <a:rPr lang="en-US" sz="1100" b="1" i="1" dirty="0">
                <a:solidFill>
                  <a:srgbClr val="1E2761"/>
                </a:solidFill>
                <a:latin typeface="Times New Roman" panose="02020603050405020304" pitchFamily="18" charset="0"/>
                <a:ea typeface="Calibri" pitchFamily="34" charset="-122"/>
                <a:cs typeface="Times New Roman" panose="02020603050405020304" pitchFamily="18" charset="0"/>
              </a:rPr>
              <a:t> </a:t>
            </a:r>
            <a:r>
              <a:rPr lang="en-US" sz="1100" i="1" dirty="0">
                <a:solidFill>
                  <a:srgbClr val="4A4A4A"/>
                </a:solidFill>
                <a:latin typeface="Times New Roman" panose="02020603050405020304" pitchFamily="18" charset="0"/>
                <a:ea typeface="Calibri" pitchFamily="34" charset="-122"/>
                <a:cs typeface="Times New Roman" panose="02020603050405020304" pitchFamily="18" charset="0"/>
              </a:rPr>
              <a:t>No HANA credential ever passes through the Destination or agent layer  </a:t>
            </a:r>
          </a:p>
          <a:p>
            <a:pPr marL="171450" indent="-171450" algn="just">
              <a:lnSpc>
                <a:spcPct val="120000"/>
              </a:lnSpc>
              <a:buFont typeface="Arial" panose="020B0604020202020204" pitchFamily="34" charset="0"/>
              <a:buChar char="•"/>
            </a:pPr>
            <a:r>
              <a:rPr lang="en-US" sz="1100" i="1" dirty="0">
                <a:solidFill>
                  <a:srgbClr val="4A4A4A"/>
                </a:solidFill>
                <a:latin typeface="Times New Roman" panose="02020603050405020304" pitchFamily="18" charset="0"/>
                <a:ea typeface="Calibri" pitchFamily="34" charset="-122"/>
                <a:cs typeface="Times New Roman" panose="02020603050405020304" pitchFamily="18" charset="0"/>
              </a:rPr>
              <a:t> Every write to TICKETS logs a matching row in AUDIT_LOG   </a:t>
            </a:r>
          </a:p>
          <a:p>
            <a:pPr marL="171450" indent="-171450" algn="just">
              <a:lnSpc>
                <a:spcPct val="120000"/>
              </a:lnSpc>
              <a:buFont typeface="Arial" panose="020B0604020202020204" pitchFamily="34" charset="0"/>
              <a:buChar char="•"/>
            </a:pPr>
            <a:r>
              <a:rPr lang="en-US" sz="1100" i="1" dirty="0">
                <a:solidFill>
                  <a:srgbClr val="4A4A4A"/>
                </a:solidFill>
                <a:latin typeface="Times New Roman" panose="02020603050405020304" pitchFamily="18" charset="0"/>
                <a:ea typeface="Calibri" pitchFamily="34" charset="-122"/>
                <a:cs typeface="Times New Roman" panose="02020603050405020304" pitchFamily="18" charset="0"/>
              </a:rPr>
              <a:t>RBAC role header (PLANT_SUPERVISOR / SALES_MANAGER / FINANCE / VIEWER) checked before every write</a:t>
            </a:r>
            <a:endParaRPr lang="en-US" sz="1100" i="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024668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6B8A2E8-2640-4F08-9939-EA08D44E6849}"/>
              </a:ext>
            </a:extLst>
          </p:cNvPr>
          <p:cNvSpPr txBox="1"/>
          <p:nvPr/>
        </p:nvSpPr>
        <p:spPr>
          <a:xfrm>
            <a:off x="326682" y="342211"/>
            <a:ext cx="5078437" cy="646331"/>
          </a:xfrm>
          <a:prstGeom prst="rect">
            <a:avLst/>
          </a:prstGeom>
          <a:noFill/>
        </p:spPr>
        <p:txBody>
          <a:bodyPr wrap="square" rtlCol="0">
            <a:spAutoFit/>
          </a:bodyPr>
          <a:lstStyle/>
          <a:p>
            <a:r>
              <a:rPr lang="en-US" sz="3600" b="1" dirty="0">
                <a:latin typeface="Times New Roman" panose="02020603050405020304" pitchFamily="18" charset="0"/>
                <a:cs typeface="Times New Roman" panose="02020603050405020304" pitchFamily="18" charset="0"/>
              </a:rPr>
              <a:t>Project Architecture</a:t>
            </a:r>
          </a:p>
        </p:txBody>
      </p:sp>
      <p:pic>
        <p:nvPicPr>
          <p:cNvPr id="7" name="Picture 6">
            <a:extLst>
              <a:ext uri="{FF2B5EF4-FFF2-40B4-BE49-F238E27FC236}">
                <a16:creationId xmlns:a16="http://schemas.microsoft.com/office/drawing/2014/main" id="{DEF9251B-EA6C-4398-9C58-230ECEBEBB49}"/>
              </a:ext>
            </a:extLst>
          </p:cNvPr>
          <p:cNvPicPr>
            <a:picLocks noChangeAspect="1"/>
          </p:cNvPicPr>
          <p:nvPr/>
        </p:nvPicPr>
        <p:blipFill>
          <a:blip r:embed="rId2"/>
          <a:stretch>
            <a:fillRect/>
          </a:stretch>
        </p:blipFill>
        <p:spPr>
          <a:xfrm>
            <a:off x="2319900" y="1065306"/>
            <a:ext cx="7552200" cy="5034800"/>
          </a:xfrm>
          <a:prstGeom prst="rect">
            <a:avLst/>
          </a:prstGeom>
        </p:spPr>
      </p:pic>
    </p:spTree>
    <p:extLst>
      <p:ext uri="{BB962C8B-B14F-4D97-AF65-F5344CB8AC3E}">
        <p14:creationId xmlns:p14="http://schemas.microsoft.com/office/powerpoint/2010/main" val="20443509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87DD510-81DB-4E25-8ACE-2D93748E9593}"/>
              </a:ext>
            </a:extLst>
          </p:cNvPr>
          <p:cNvSpPr/>
          <p:nvPr/>
        </p:nvSpPr>
        <p:spPr>
          <a:xfrm>
            <a:off x="780945" y="322774"/>
            <a:ext cx="9704173" cy="5700535"/>
          </a:xfrm>
          <a:prstGeom prst="rect">
            <a:avLst/>
          </a:prstGeom>
        </p:spPr>
        <p:txBody>
          <a:bodyPr wrap="square">
            <a:spAutoFit/>
          </a:bodyPr>
          <a:lstStyle/>
          <a:p>
            <a:pPr algn="just">
              <a:lnSpc>
                <a:spcPct val="150000"/>
              </a:lnSpc>
              <a:spcBef>
                <a:spcPts val="2400"/>
              </a:spcBef>
              <a:spcAft>
                <a:spcPts val="0"/>
              </a:spcAft>
            </a:pPr>
            <a:r>
              <a:rPr lang="en-US" sz="3600" b="1" kern="0" dirty="0">
                <a:solidFill>
                  <a:srgbClr val="000000"/>
                </a:solidFill>
                <a:latin typeface="Times New Roman" panose="02020603050405020304" pitchFamily="18" charset="0"/>
                <a:ea typeface="MS Gothic" panose="020B0609070205080204" pitchFamily="49" charset="-128"/>
                <a:cs typeface="Times New Roman" panose="02020603050405020304" pitchFamily="18" charset="0"/>
              </a:rPr>
              <a:t>SAP BTP Trial Environment Setup</a:t>
            </a:r>
            <a:endParaRPr lang="en-US" sz="3600" b="1" kern="0" dirty="0">
              <a:solidFill>
                <a:srgbClr val="365F91"/>
              </a:solidFill>
              <a:latin typeface="Times New Roman" panose="02020603050405020304" pitchFamily="18" charset="0"/>
              <a:ea typeface="MS Gothic" panose="020B0609070205080204" pitchFamily="49" charset="-128"/>
              <a:cs typeface="Times New Roman" panose="02020603050405020304" pitchFamily="18" charset="0"/>
            </a:endParaRPr>
          </a:p>
          <a:p>
            <a:pPr algn="just">
              <a:lnSpc>
                <a:spcPct val="150000"/>
              </a:lnSpc>
              <a:spcAft>
                <a:spcPts val="1000"/>
              </a:spcAft>
            </a:pPr>
            <a:r>
              <a:rPr lang="en-US" dirty="0">
                <a:solidFill>
                  <a:srgbClr val="000000"/>
                </a:solidFill>
                <a:latin typeface="Times New Roman" panose="02020603050405020304" pitchFamily="18" charset="0"/>
                <a:ea typeface="MS Mincho" panose="02020609040205080304" pitchFamily="49" charset="-128"/>
                <a:cs typeface="Times New Roman" panose="02020603050405020304" pitchFamily="18" charset="0"/>
              </a:rPr>
              <a:t>The project was implemented in the SAP BTP trial environment. The required services were subscribed and accessed from the BTP cockpit. SAP HANA Cloud was used as the primary database service and SAP Business Application Studio was used as the development environment.</a:t>
            </a:r>
            <a:endParaRPr lang="en-US" dirty="0">
              <a:latin typeface="Times New Roman" panose="02020603050405020304" pitchFamily="18" charset="0"/>
              <a:ea typeface="MS Mincho" panose="02020609040205080304" pitchFamily="49" charset="-128"/>
              <a:cs typeface="Times New Roman" panose="02020603050405020304" pitchFamily="18" charset="0"/>
            </a:endParaRPr>
          </a:p>
          <a:p>
            <a:pPr marL="342900" lvl="0" indent="-342900" algn="just">
              <a:lnSpc>
                <a:spcPct val="150000"/>
              </a:lnSpc>
              <a:spcAft>
                <a:spcPts val="0"/>
              </a:spcAft>
              <a:buFont typeface="+mj-lt"/>
              <a:buAutoNum type="arabicPeriod"/>
              <a:tabLst>
                <a:tab pos="228600" algn="l"/>
              </a:tabLst>
            </a:pPr>
            <a:r>
              <a:rPr lang="en-US" dirty="0">
                <a:solidFill>
                  <a:srgbClr val="000000"/>
                </a:solidFill>
                <a:latin typeface="Times New Roman" panose="02020603050405020304" pitchFamily="18" charset="0"/>
                <a:ea typeface="MS Mincho" panose="02020609040205080304" pitchFamily="49" charset="-128"/>
                <a:cs typeface="Times New Roman" panose="02020603050405020304" pitchFamily="18" charset="0"/>
              </a:rPr>
              <a:t>Log in to the SAP BTP trial cockpit(Log in at cockpit.hanatrial.ondemand.com.)</a:t>
            </a:r>
            <a:endParaRPr lang="en-US" dirty="0">
              <a:latin typeface="Times New Roman" panose="02020603050405020304" pitchFamily="18" charset="0"/>
              <a:ea typeface="MS Mincho" panose="02020609040205080304" pitchFamily="49" charset="-128"/>
              <a:cs typeface="Times New Roman" panose="02020603050405020304" pitchFamily="18" charset="0"/>
            </a:endParaRPr>
          </a:p>
          <a:p>
            <a:pPr marL="342900" indent="-342900" algn="just">
              <a:lnSpc>
                <a:spcPct val="150000"/>
              </a:lnSpc>
              <a:buFont typeface="+mj-lt"/>
              <a:buAutoNum type="arabicPeriod"/>
              <a:tabLst>
                <a:tab pos="228600" algn="l"/>
              </a:tabLst>
            </a:pPr>
            <a:r>
              <a:rPr lang="en-US" dirty="0">
                <a:solidFill>
                  <a:srgbClr val="000000"/>
                </a:solidFill>
                <a:latin typeface="Times New Roman" panose="02020603050405020304" pitchFamily="18" charset="0"/>
                <a:ea typeface="MS Mincho" panose="02020609040205080304" pitchFamily="49" charset="-128"/>
                <a:cs typeface="Times New Roman" panose="02020603050405020304" pitchFamily="18" charset="0"/>
              </a:rPr>
              <a:t>Open the trial subaccount and verify the available subscriptions.</a:t>
            </a:r>
          </a:p>
          <a:p>
            <a:pPr marL="342900" indent="-342900" algn="just">
              <a:lnSpc>
                <a:spcPct val="150000"/>
              </a:lnSpc>
              <a:buFont typeface="+mj-lt"/>
              <a:buAutoNum type="arabicPeriod"/>
              <a:tabLst>
                <a:tab pos="228600" algn="l"/>
              </a:tabLst>
            </a:pPr>
            <a:r>
              <a:rPr lang="en-US" dirty="0">
                <a:latin typeface="Times New Roman" panose="02020603050405020304" pitchFamily="18" charset="0"/>
                <a:ea typeface="Calibri" pitchFamily="34" charset="-122"/>
                <a:cs typeface="Times New Roman" panose="02020603050405020304" pitchFamily="18" charset="0"/>
              </a:rPr>
              <a:t>Created an SAP HANA Cloud instance from BTP Cockpit → Instances and Subscriptions → SAP HANA Cloud.</a:t>
            </a:r>
            <a:endParaRPr lang="en-US" dirty="0">
              <a:latin typeface="Times New Roman" panose="02020603050405020304" pitchFamily="18" charset="0"/>
              <a:ea typeface="MS Mincho" panose="02020609040205080304" pitchFamily="49" charset="-128"/>
              <a:cs typeface="Times New Roman" panose="02020603050405020304" pitchFamily="18" charset="0"/>
            </a:endParaRPr>
          </a:p>
          <a:p>
            <a:pPr marL="342900" lvl="0" indent="-342900" algn="just">
              <a:lnSpc>
                <a:spcPct val="150000"/>
              </a:lnSpc>
              <a:spcAft>
                <a:spcPts val="0"/>
              </a:spcAft>
              <a:buFont typeface="+mj-lt"/>
              <a:buAutoNum type="arabicPeriod"/>
              <a:tabLst>
                <a:tab pos="228600" algn="l"/>
              </a:tabLst>
            </a:pPr>
            <a:r>
              <a:rPr lang="en-US" dirty="0">
                <a:solidFill>
                  <a:srgbClr val="000000"/>
                </a:solidFill>
                <a:latin typeface="Times New Roman" panose="02020603050405020304" pitchFamily="18" charset="0"/>
                <a:ea typeface="MS Mincho" panose="02020609040205080304" pitchFamily="49" charset="-128"/>
                <a:cs typeface="Times New Roman" panose="02020603050405020304" pitchFamily="18" charset="0"/>
              </a:rPr>
              <a:t>Subscribe to SAP HANA Cloud Central and access the HANA Cloud management interface.</a:t>
            </a:r>
            <a:endParaRPr lang="en-US" dirty="0">
              <a:latin typeface="Times New Roman" panose="02020603050405020304" pitchFamily="18" charset="0"/>
              <a:ea typeface="MS Mincho" panose="02020609040205080304" pitchFamily="49" charset="-128"/>
              <a:cs typeface="Times New Roman" panose="02020603050405020304" pitchFamily="18" charset="0"/>
            </a:endParaRPr>
          </a:p>
          <a:p>
            <a:pPr marL="342900" lvl="0" indent="-342900" algn="just">
              <a:lnSpc>
                <a:spcPct val="150000"/>
              </a:lnSpc>
              <a:spcAft>
                <a:spcPts val="0"/>
              </a:spcAft>
              <a:buFont typeface="+mj-lt"/>
              <a:buAutoNum type="arabicPeriod"/>
              <a:tabLst>
                <a:tab pos="228600" algn="l"/>
              </a:tabLst>
            </a:pPr>
            <a:r>
              <a:rPr lang="en-US" dirty="0">
                <a:solidFill>
                  <a:srgbClr val="000000"/>
                </a:solidFill>
                <a:latin typeface="Times New Roman" panose="02020603050405020304" pitchFamily="18" charset="0"/>
                <a:ea typeface="MS Mincho" panose="02020609040205080304" pitchFamily="49" charset="-128"/>
                <a:cs typeface="Times New Roman" panose="02020603050405020304" pitchFamily="18" charset="0"/>
              </a:rPr>
              <a:t>Subscribe to SAP Business Application Studio for development activities.</a:t>
            </a:r>
            <a:endParaRPr lang="en-US" dirty="0">
              <a:latin typeface="Times New Roman" panose="02020603050405020304" pitchFamily="18" charset="0"/>
              <a:ea typeface="MS Mincho" panose="02020609040205080304" pitchFamily="49" charset="-128"/>
              <a:cs typeface="Times New Roman" panose="02020603050405020304" pitchFamily="18" charset="0"/>
            </a:endParaRPr>
          </a:p>
          <a:p>
            <a:pPr marL="342900" lvl="0" indent="-342900" algn="just">
              <a:lnSpc>
                <a:spcPct val="150000"/>
              </a:lnSpc>
              <a:spcAft>
                <a:spcPts val="1000"/>
              </a:spcAft>
              <a:buFont typeface="+mj-lt"/>
              <a:buAutoNum type="arabicPeriod"/>
              <a:tabLst>
                <a:tab pos="228600" algn="l"/>
              </a:tabLst>
            </a:pPr>
            <a:r>
              <a:rPr lang="en-US" dirty="0">
                <a:solidFill>
                  <a:srgbClr val="000000"/>
                </a:solidFill>
                <a:latin typeface="Times New Roman" panose="02020603050405020304" pitchFamily="18" charset="0"/>
                <a:ea typeface="MS Mincho" panose="02020609040205080304" pitchFamily="49" charset="-128"/>
                <a:cs typeface="Times New Roman" panose="02020603050405020304" pitchFamily="18" charset="0"/>
              </a:rPr>
              <a:t>Create or access the HANA Cloud database instance.</a:t>
            </a:r>
          </a:p>
          <a:p>
            <a:pPr marL="342900" lvl="0" indent="-342900" algn="just">
              <a:lnSpc>
                <a:spcPct val="150000"/>
              </a:lnSpc>
              <a:spcAft>
                <a:spcPts val="1000"/>
              </a:spcAft>
              <a:buFont typeface="+mj-lt"/>
              <a:buAutoNum type="arabicPeriod"/>
              <a:tabLst>
                <a:tab pos="228600" algn="l"/>
              </a:tabLst>
            </a:pPr>
            <a:r>
              <a:rPr lang="en-US" dirty="0">
                <a:solidFill>
                  <a:srgbClr val="000000"/>
                </a:solidFill>
                <a:latin typeface="Times New Roman" panose="02020603050405020304" pitchFamily="18" charset="0"/>
                <a:ea typeface="MS Mincho" panose="02020609040205080304" pitchFamily="49" charset="-128"/>
                <a:cs typeface="Times New Roman" panose="02020603050405020304" pitchFamily="18" charset="0"/>
              </a:rPr>
              <a:t>Open Database explorer and SQL console to execute SQL commands</a:t>
            </a:r>
          </a:p>
        </p:txBody>
      </p:sp>
    </p:spTree>
    <p:extLst>
      <p:ext uri="{BB962C8B-B14F-4D97-AF65-F5344CB8AC3E}">
        <p14:creationId xmlns:p14="http://schemas.microsoft.com/office/powerpoint/2010/main" val="9577142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3BC6F84-BA8A-488C-AD96-4F8CD2D37410}"/>
              </a:ext>
            </a:extLst>
          </p:cNvPr>
          <p:cNvSpPr/>
          <p:nvPr/>
        </p:nvSpPr>
        <p:spPr>
          <a:xfrm>
            <a:off x="490150" y="410505"/>
            <a:ext cx="10330249" cy="4664739"/>
          </a:xfrm>
          <a:prstGeom prst="rect">
            <a:avLst/>
          </a:prstGeom>
        </p:spPr>
        <p:txBody>
          <a:bodyPr wrap="square">
            <a:spAutoFit/>
          </a:bodyPr>
          <a:lstStyle/>
          <a:p>
            <a:pPr algn="just">
              <a:lnSpc>
                <a:spcPct val="150000"/>
              </a:lnSpc>
            </a:pPr>
            <a:r>
              <a:rPr lang="en-US" sz="2400" b="1" dirty="0">
                <a:latin typeface="Times New Roman" panose="02020603050405020304" pitchFamily="18" charset="0"/>
                <a:cs typeface="Times New Roman" panose="02020603050405020304" pitchFamily="18" charset="0"/>
              </a:rPr>
              <a:t>Limitations in the Trial SAP BTP Platform</a:t>
            </a:r>
          </a:p>
          <a:p>
            <a:pPr algn="just">
              <a:lnSpc>
                <a:spcPct val="150000"/>
              </a:lnSpc>
            </a:pPr>
            <a:endParaRPr lang="en-US" sz="1600" b="1" dirty="0">
              <a:latin typeface="Times New Roman" panose="02020603050405020304" pitchFamily="18" charset="0"/>
              <a:cs typeface="Times New Roman" panose="02020603050405020304" pitchFamily="18" charset="0"/>
            </a:endParaRPr>
          </a:p>
          <a:p>
            <a:pPr marL="285750" lvl="0" indent="-285750" algn="just" defTabSz="914400" eaLnBrk="0" fontAlgn="base" hangingPunct="0">
              <a:lnSpc>
                <a:spcPct val="150000"/>
              </a:lnSpc>
              <a:spcBef>
                <a:spcPct val="0"/>
              </a:spcBef>
              <a:spcAft>
                <a:spcPct val="0"/>
              </a:spcAft>
              <a:buFont typeface="Arial" panose="020B0604020202020204" pitchFamily="34" charset="0"/>
              <a:buChar char="•"/>
            </a:pPr>
            <a:r>
              <a:rPr lang="en-US" altLang="en-US" sz="1600" dirty="0">
                <a:latin typeface="Times New Roman" panose="02020603050405020304" pitchFamily="18" charset="0"/>
                <a:cs typeface="Times New Roman" panose="02020603050405020304" pitchFamily="18" charset="0"/>
              </a:rPr>
              <a:t>The </a:t>
            </a:r>
            <a:r>
              <a:rPr lang="en-US" altLang="en-US" sz="1600" b="1" dirty="0">
                <a:latin typeface="Times New Roman" panose="02020603050405020304" pitchFamily="18" charset="0"/>
                <a:cs typeface="Times New Roman" panose="02020603050405020304" pitchFamily="18" charset="0"/>
              </a:rPr>
              <a:t>SAP BTP Trial subaccount did not have subscriptions/entitlements for SAP Build and Joule/Joule Studio</a:t>
            </a:r>
            <a:r>
              <a:rPr lang="en-US" altLang="en-US" sz="1600" dirty="0">
                <a:latin typeface="Times New Roman" panose="02020603050405020304" pitchFamily="18" charset="0"/>
                <a:cs typeface="Times New Roman" panose="02020603050405020304" pitchFamily="18" charset="0"/>
              </a:rPr>
              <a:t>. </a:t>
            </a:r>
          </a:p>
          <a:p>
            <a:pPr marL="285750" lvl="0" indent="-285750" algn="just" defTabSz="914400" eaLnBrk="0" fontAlgn="base" hangingPunct="0">
              <a:lnSpc>
                <a:spcPct val="150000"/>
              </a:lnSpc>
              <a:spcBef>
                <a:spcPct val="0"/>
              </a:spcBef>
              <a:spcAft>
                <a:spcPct val="0"/>
              </a:spcAft>
              <a:buFont typeface="Arial" panose="020B0604020202020204" pitchFamily="34" charset="0"/>
              <a:buChar char="•"/>
            </a:pPr>
            <a:r>
              <a:rPr lang="en-US" altLang="en-US" sz="1600" dirty="0">
                <a:latin typeface="Times New Roman" panose="02020603050405020304" pitchFamily="18" charset="0"/>
                <a:cs typeface="Times New Roman" panose="02020603050405020304" pitchFamily="18" charset="0"/>
              </a:rPr>
              <a:t>Features required for creating a custom Joule Agent, such as </a:t>
            </a:r>
            <a:r>
              <a:rPr lang="en-US" altLang="en-US" sz="1600" b="1" dirty="0">
                <a:latin typeface="Times New Roman" panose="02020603050405020304" pitchFamily="18" charset="0"/>
                <a:cs typeface="Times New Roman" panose="02020603050405020304" pitchFamily="18" charset="0"/>
              </a:rPr>
              <a:t>Intent Router, Planner, and Joule Skill registration</a:t>
            </a:r>
            <a:r>
              <a:rPr lang="en-US" altLang="en-US" sz="1600" dirty="0">
                <a:latin typeface="Times New Roman" panose="02020603050405020304" pitchFamily="18" charset="0"/>
                <a:cs typeface="Times New Roman" panose="02020603050405020304" pitchFamily="18" charset="0"/>
              </a:rPr>
              <a:t>, require the appropriate </a:t>
            </a:r>
            <a:r>
              <a:rPr lang="en-US" altLang="en-US" sz="1600" b="1" dirty="0">
                <a:latin typeface="Times New Roman" panose="02020603050405020304" pitchFamily="18" charset="0"/>
                <a:cs typeface="Times New Roman" panose="02020603050405020304" pitchFamily="18" charset="0"/>
              </a:rPr>
              <a:t>SAP Build/Joule paid entitlement</a:t>
            </a:r>
            <a:r>
              <a:rPr lang="en-US" altLang="en-US" sz="1600" dirty="0">
                <a:latin typeface="Times New Roman" panose="02020603050405020304" pitchFamily="18" charset="0"/>
                <a:cs typeface="Times New Roman" panose="02020603050405020304" pitchFamily="18" charset="0"/>
              </a:rPr>
              <a:t>. </a:t>
            </a:r>
          </a:p>
          <a:p>
            <a:pPr marL="285750" lvl="0" indent="-285750" algn="just" defTabSz="914400" eaLnBrk="0" fontAlgn="base" hangingPunct="0">
              <a:lnSpc>
                <a:spcPct val="150000"/>
              </a:lnSpc>
              <a:spcBef>
                <a:spcPct val="0"/>
              </a:spcBef>
              <a:spcAft>
                <a:spcPct val="0"/>
              </a:spcAft>
              <a:buFont typeface="Arial" panose="020B0604020202020204" pitchFamily="34" charset="0"/>
              <a:buChar char="•"/>
            </a:pPr>
            <a:r>
              <a:rPr lang="en-US" altLang="en-US" sz="1600" dirty="0">
                <a:latin typeface="Times New Roman" panose="02020603050405020304" pitchFamily="18" charset="0"/>
                <a:cs typeface="Times New Roman" panose="02020603050405020304" pitchFamily="18" charset="0"/>
              </a:rPr>
              <a:t>As a result, the </a:t>
            </a:r>
            <a:r>
              <a:rPr lang="en-US" altLang="en-US" sz="1600" b="1" dirty="0" err="1">
                <a:latin typeface="Times New Roman" panose="02020603050405020304" pitchFamily="18" charset="0"/>
                <a:cs typeface="Times New Roman" panose="02020603050405020304" pitchFamily="18" charset="0"/>
              </a:rPr>
              <a:t>JouleOps</a:t>
            </a:r>
            <a:r>
              <a:rPr lang="en-US" altLang="en-US" sz="1600" b="1" dirty="0">
                <a:latin typeface="Times New Roman" panose="02020603050405020304" pitchFamily="18" charset="0"/>
                <a:cs typeface="Times New Roman" panose="02020603050405020304" pitchFamily="18" charset="0"/>
              </a:rPr>
              <a:t> Agent and Joule Skill could not be provisioned directly within Joule Studio</a:t>
            </a:r>
            <a:r>
              <a:rPr lang="en-US" altLang="en-US" sz="1600" dirty="0">
                <a:latin typeface="Times New Roman" panose="02020603050405020304" pitchFamily="18" charset="0"/>
                <a:cs typeface="Times New Roman" panose="02020603050405020304" pitchFamily="18" charset="0"/>
              </a:rPr>
              <a:t> in the trial account. </a:t>
            </a:r>
          </a:p>
          <a:p>
            <a:pPr marL="285750" lvl="0" indent="-285750" algn="just" defTabSz="914400" eaLnBrk="0" fontAlgn="base" hangingPunct="0">
              <a:lnSpc>
                <a:spcPct val="150000"/>
              </a:lnSpc>
              <a:spcBef>
                <a:spcPct val="0"/>
              </a:spcBef>
              <a:spcAft>
                <a:spcPct val="0"/>
              </a:spcAft>
              <a:buFont typeface="Arial" panose="020B0604020202020204" pitchFamily="34" charset="0"/>
              <a:buChar char="•"/>
            </a:pPr>
            <a:r>
              <a:rPr lang="en-US" altLang="en-US" sz="1600" dirty="0">
                <a:latin typeface="Times New Roman" panose="02020603050405020304" pitchFamily="18" charset="0"/>
                <a:cs typeface="Times New Roman" panose="02020603050405020304" pitchFamily="18" charset="0"/>
              </a:rPr>
              <a:t>However, </a:t>
            </a:r>
            <a:r>
              <a:rPr lang="en-US" altLang="en-US" sz="1600" b="1" dirty="0">
                <a:latin typeface="Times New Roman" panose="02020603050405020304" pitchFamily="18" charset="0"/>
                <a:cs typeface="Times New Roman" panose="02020603050405020304" pitchFamily="18" charset="0"/>
              </a:rPr>
              <a:t>SAP HANA Cloud and BTP Destination Service were available</a:t>
            </a:r>
            <a:r>
              <a:rPr lang="en-US" altLang="en-US" sz="1600" dirty="0">
                <a:latin typeface="Times New Roman" panose="02020603050405020304" pitchFamily="18" charset="0"/>
                <a:cs typeface="Times New Roman" panose="02020603050405020304" pitchFamily="18" charset="0"/>
              </a:rPr>
              <a:t> and were successfully used for the backend integration. </a:t>
            </a:r>
          </a:p>
          <a:p>
            <a:pPr marL="285750" lvl="0" indent="-285750" algn="just" defTabSz="914400" eaLnBrk="0" fontAlgn="base" hangingPunct="0">
              <a:lnSpc>
                <a:spcPct val="150000"/>
              </a:lnSpc>
              <a:spcBef>
                <a:spcPct val="0"/>
              </a:spcBef>
              <a:spcAft>
                <a:spcPct val="0"/>
              </a:spcAft>
              <a:buFont typeface="Arial" panose="020B0604020202020204" pitchFamily="34" charset="0"/>
              <a:buChar char="•"/>
            </a:pPr>
            <a:r>
              <a:rPr lang="en-US" altLang="en-US" sz="1600" dirty="0">
                <a:latin typeface="Times New Roman" panose="02020603050405020304" pitchFamily="18" charset="0"/>
                <a:cs typeface="Times New Roman" panose="02020603050405020304" pitchFamily="18" charset="0"/>
              </a:rPr>
              <a:t>As a workaround, the </a:t>
            </a:r>
            <a:r>
              <a:rPr lang="en-US" altLang="en-US" sz="1600" b="1" dirty="0">
                <a:latin typeface="Times New Roman" panose="02020603050405020304" pitchFamily="18" charset="0"/>
                <a:cs typeface="Times New Roman" panose="02020603050405020304" pitchFamily="18" charset="0"/>
              </a:rPr>
              <a:t>agent logic and tool-selection flow were prototyped locally in VS Code</a:t>
            </a:r>
            <a:r>
              <a:rPr lang="en-US" altLang="en-US" sz="1600" dirty="0">
                <a:latin typeface="Times New Roman" panose="02020603050405020304" pitchFamily="18" charset="0"/>
                <a:cs typeface="Times New Roman" panose="02020603050405020304" pitchFamily="18" charset="0"/>
              </a:rPr>
              <a:t>, using the same </a:t>
            </a:r>
            <a:r>
              <a:rPr lang="en-US" altLang="en-US" sz="1600" dirty="0" err="1">
                <a:latin typeface="Times New Roman" panose="02020603050405020304" pitchFamily="18" charset="0"/>
                <a:cs typeface="Times New Roman" panose="02020603050405020304" pitchFamily="18" charset="0"/>
              </a:rPr>
              <a:t>FastAPI</a:t>
            </a:r>
            <a:r>
              <a:rPr lang="en-US" altLang="en-US" sz="1600" dirty="0">
                <a:latin typeface="Times New Roman" panose="02020603050405020304" pitchFamily="18" charset="0"/>
                <a:cs typeface="Times New Roman" panose="02020603050405020304" pitchFamily="18" charset="0"/>
              </a:rPr>
              <a:t>/MCP APIs that would be consumed by the Joule Agent once the required SAP Build/Joule entitlement is available. </a:t>
            </a:r>
          </a:p>
        </p:txBody>
      </p:sp>
    </p:spTree>
    <p:extLst>
      <p:ext uri="{BB962C8B-B14F-4D97-AF65-F5344CB8AC3E}">
        <p14:creationId xmlns:p14="http://schemas.microsoft.com/office/powerpoint/2010/main" val="35373466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6FCBB77-1488-42B8-A31B-31DF1AA6D3AB}"/>
              </a:ext>
            </a:extLst>
          </p:cNvPr>
          <p:cNvPicPr/>
          <p:nvPr/>
        </p:nvPicPr>
        <p:blipFill>
          <a:blip r:embed="rId2"/>
          <a:stretch>
            <a:fillRect/>
          </a:stretch>
        </p:blipFill>
        <p:spPr>
          <a:xfrm>
            <a:off x="469969" y="3701816"/>
            <a:ext cx="7221750" cy="2601097"/>
          </a:xfrm>
          <a:prstGeom prst="rect">
            <a:avLst/>
          </a:prstGeom>
        </p:spPr>
      </p:pic>
      <p:pic>
        <p:nvPicPr>
          <p:cNvPr id="5" name="Picture 4">
            <a:extLst>
              <a:ext uri="{FF2B5EF4-FFF2-40B4-BE49-F238E27FC236}">
                <a16:creationId xmlns:a16="http://schemas.microsoft.com/office/drawing/2014/main" id="{E4616657-AD3F-47CF-93C1-BCD4FC739C18}"/>
              </a:ext>
            </a:extLst>
          </p:cNvPr>
          <p:cNvPicPr/>
          <p:nvPr/>
        </p:nvPicPr>
        <p:blipFill>
          <a:blip r:embed="rId3"/>
          <a:stretch>
            <a:fillRect/>
          </a:stretch>
        </p:blipFill>
        <p:spPr>
          <a:xfrm>
            <a:off x="469968" y="148644"/>
            <a:ext cx="7221750" cy="3361038"/>
          </a:xfrm>
          <a:prstGeom prst="rect">
            <a:avLst/>
          </a:prstGeom>
        </p:spPr>
      </p:pic>
      <p:sp>
        <p:nvSpPr>
          <p:cNvPr id="6" name="TextBox 5">
            <a:extLst>
              <a:ext uri="{FF2B5EF4-FFF2-40B4-BE49-F238E27FC236}">
                <a16:creationId xmlns:a16="http://schemas.microsoft.com/office/drawing/2014/main" id="{A16F30F5-132E-48AC-8074-15412A3A6691}"/>
              </a:ext>
            </a:extLst>
          </p:cNvPr>
          <p:cNvSpPr txBox="1"/>
          <p:nvPr/>
        </p:nvSpPr>
        <p:spPr>
          <a:xfrm>
            <a:off x="8032849" y="1261193"/>
            <a:ext cx="3902478" cy="523220"/>
          </a:xfrm>
          <a:prstGeom prst="rect">
            <a:avLst/>
          </a:prstGeom>
          <a:noFill/>
        </p:spPr>
        <p:txBody>
          <a:bodyPr wrap="square" rtlCol="0">
            <a:spAutoFit/>
          </a:bodyPr>
          <a:lstStyle/>
          <a:p>
            <a:r>
              <a:rPr lang="en-US" sz="1400" b="1" i="1" dirty="0">
                <a:latin typeface="Times New Roman" panose="02020603050405020304" pitchFamily="18" charset="0"/>
                <a:cs typeface="Times New Roman" panose="02020603050405020304" pitchFamily="18" charset="0"/>
              </a:rPr>
              <a:t>Figure 1: SAP BTP trial subaccount showing subscribed services</a:t>
            </a:r>
          </a:p>
        </p:txBody>
      </p:sp>
      <p:sp>
        <p:nvSpPr>
          <p:cNvPr id="7" name="TextBox 6">
            <a:extLst>
              <a:ext uri="{FF2B5EF4-FFF2-40B4-BE49-F238E27FC236}">
                <a16:creationId xmlns:a16="http://schemas.microsoft.com/office/drawing/2014/main" id="{F64A5460-5385-44B0-A57C-55E093B897D9}"/>
              </a:ext>
            </a:extLst>
          </p:cNvPr>
          <p:cNvSpPr txBox="1"/>
          <p:nvPr/>
        </p:nvSpPr>
        <p:spPr>
          <a:xfrm>
            <a:off x="8032849" y="4429226"/>
            <a:ext cx="3902478" cy="553998"/>
          </a:xfrm>
          <a:prstGeom prst="rect">
            <a:avLst/>
          </a:prstGeom>
          <a:noFill/>
        </p:spPr>
        <p:txBody>
          <a:bodyPr wrap="square" rtlCol="0">
            <a:spAutoFit/>
          </a:bodyPr>
          <a:lstStyle/>
          <a:p>
            <a:r>
              <a:rPr lang="en-US" sz="1600" b="1" i="1" dirty="0">
                <a:latin typeface="Times New Roman" panose="02020603050405020304" pitchFamily="18" charset="0"/>
                <a:cs typeface="Times New Roman" panose="02020603050405020304" pitchFamily="18" charset="0"/>
              </a:rPr>
              <a:t>Figure 2: </a:t>
            </a:r>
            <a:r>
              <a:rPr lang="en-US" sz="1400" b="1" i="1" dirty="0">
                <a:latin typeface="Times New Roman" panose="02020603050405020304" pitchFamily="18" charset="0"/>
                <a:cs typeface="Times New Roman" panose="02020603050405020304" pitchFamily="18" charset="0"/>
              </a:rPr>
              <a:t>SAP HANA Cloud instance in the SAP BTP cockpit</a:t>
            </a:r>
            <a:endParaRPr lang="en-US" sz="1600" b="1" i="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678184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BBB5F37-4448-4DC3-A848-340106304B8C}"/>
              </a:ext>
            </a:extLst>
          </p:cNvPr>
          <p:cNvPicPr/>
          <p:nvPr/>
        </p:nvPicPr>
        <p:blipFill>
          <a:blip r:embed="rId2"/>
          <a:stretch>
            <a:fillRect/>
          </a:stretch>
        </p:blipFill>
        <p:spPr>
          <a:xfrm>
            <a:off x="480060" y="368281"/>
            <a:ext cx="6883266" cy="2808056"/>
          </a:xfrm>
          <a:prstGeom prst="rect">
            <a:avLst/>
          </a:prstGeom>
        </p:spPr>
      </p:pic>
      <p:pic>
        <p:nvPicPr>
          <p:cNvPr id="8" name="Picture 7">
            <a:extLst>
              <a:ext uri="{FF2B5EF4-FFF2-40B4-BE49-F238E27FC236}">
                <a16:creationId xmlns:a16="http://schemas.microsoft.com/office/drawing/2014/main" id="{D2456F8A-574E-46F6-A90B-2569E2C29E7D}"/>
              </a:ext>
            </a:extLst>
          </p:cNvPr>
          <p:cNvPicPr/>
          <p:nvPr/>
        </p:nvPicPr>
        <p:blipFill>
          <a:blip r:embed="rId2"/>
          <a:stretch>
            <a:fillRect/>
          </a:stretch>
        </p:blipFill>
        <p:spPr>
          <a:xfrm>
            <a:off x="480060" y="3205391"/>
            <a:ext cx="6883266" cy="2929572"/>
          </a:xfrm>
          <a:prstGeom prst="rect">
            <a:avLst/>
          </a:prstGeom>
        </p:spPr>
      </p:pic>
      <p:sp>
        <p:nvSpPr>
          <p:cNvPr id="10" name="Rectangle 9">
            <a:extLst>
              <a:ext uri="{FF2B5EF4-FFF2-40B4-BE49-F238E27FC236}">
                <a16:creationId xmlns:a16="http://schemas.microsoft.com/office/drawing/2014/main" id="{6F1FD9F4-D7BB-4C6B-AB6A-841A6A463C30}"/>
              </a:ext>
            </a:extLst>
          </p:cNvPr>
          <p:cNvSpPr/>
          <p:nvPr/>
        </p:nvSpPr>
        <p:spPr>
          <a:xfrm>
            <a:off x="7599680" y="4229043"/>
            <a:ext cx="4297680" cy="461665"/>
          </a:xfrm>
          <a:prstGeom prst="rect">
            <a:avLst/>
          </a:prstGeom>
        </p:spPr>
        <p:txBody>
          <a:bodyPr wrap="square">
            <a:spAutoFit/>
          </a:bodyPr>
          <a:lstStyle/>
          <a:p>
            <a:r>
              <a:rPr lang="en-US" sz="1200" b="1" i="1" dirty="0">
                <a:latin typeface="Times New Roman" panose="02020603050405020304" pitchFamily="18" charset="0"/>
                <a:cs typeface="Times New Roman" panose="02020603050405020304" pitchFamily="18" charset="0"/>
              </a:rPr>
              <a:t>Figure 4:Tables were created and Sample records in the MATERIALS table is retrieved</a:t>
            </a:r>
          </a:p>
        </p:txBody>
      </p:sp>
      <p:sp>
        <p:nvSpPr>
          <p:cNvPr id="6" name="Rectangle 5">
            <a:extLst>
              <a:ext uri="{FF2B5EF4-FFF2-40B4-BE49-F238E27FC236}">
                <a16:creationId xmlns:a16="http://schemas.microsoft.com/office/drawing/2014/main" id="{67472999-5393-4657-AF41-A7FA96DAF9F9}"/>
              </a:ext>
            </a:extLst>
          </p:cNvPr>
          <p:cNvSpPr/>
          <p:nvPr/>
        </p:nvSpPr>
        <p:spPr>
          <a:xfrm>
            <a:off x="7599680" y="1384630"/>
            <a:ext cx="4297680" cy="276999"/>
          </a:xfrm>
          <a:prstGeom prst="rect">
            <a:avLst/>
          </a:prstGeom>
        </p:spPr>
        <p:txBody>
          <a:bodyPr wrap="square">
            <a:spAutoFit/>
          </a:bodyPr>
          <a:lstStyle/>
          <a:p>
            <a:r>
              <a:rPr lang="en-US" sz="1200" b="1" i="1" dirty="0">
                <a:latin typeface="Times New Roman" panose="02020603050405020304" pitchFamily="18" charset="0"/>
                <a:cs typeface="Times New Roman" panose="02020603050405020304" pitchFamily="18" charset="0"/>
              </a:rPr>
              <a:t>Figure 3:SAP Hana Cloud SQL Interface</a:t>
            </a:r>
          </a:p>
        </p:txBody>
      </p:sp>
    </p:spTree>
    <p:extLst>
      <p:ext uri="{BB962C8B-B14F-4D97-AF65-F5344CB8AC3E}">
        <p14:creationId xmlns:p14="http://schemas.microsoft.com/office/powerpoint/2010/main" val="23239783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8DDF884-8074-4AF4-9C8A-10595B635C0A}"/>
              </a:ext>
            </a:extLst>
          </p:cNvPr>
          <p:cNvPicPr/>
          <p:nvPr/>
        </p:nvPicPr>
        <p:blipFill>
          <a:blip r:embed="rId2"/>
          <a:stretch>
            <a:fillRect/>
          </a:stretch>
        </p:blipFill>
        <p:spPr>
          <a:xfrm>
            <a:off x="430484" y="307582"/>
            <a:ext cx="5071155" cy="4828297"/>
          </a:xfrm>
          <a:prstGeom prst="rect">
            <a:avLst/>
          </a:prstGeom>
        </p:spPr>
      </p:pic>
      <p:pic>
        <p:nvPicPr>
          <p:cNvPr id="4" name="Picture 3">
            <a:extLst>
              <a:ext uri="{FF2B5EF4-FFF2-40B4-BE49-F238E27FC236}">
                <a16:creationId xmlns:a16="http://schemas.microsoft.com/office/drawing/2014/main" id="{7F106E0C-2241-4458-A884-09340789E87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68804" y="307581"/>
            <a:ext cx="5352631" cy="4828297"/>
          </a:xfrm>
          <a:prstGeom prst="rect">
            <a:avLst/>
          </a:prstGeom>
        </p:spPr>
      </p:pic>
      <p:sp>
        <p:nvSpPr>
          <p:cNvPr id="7" name="Rectangle 6">
            <a:extLst>
              <a:ext uri="{FF2B5EF4-FFF2-40B4-BE49-F238E27FC236}">
                <a16:creationId xmlns:a16="http://schemas.microsoft.com/office/drawing/2014/main" id="{990CCE2C-5CF5-415C-8589-0A26A08C39CA}"/>
              </a:ext>
            </a:extLst>
          </p:cNvPr>
          <p:cNvSpPr/>
          <p:nvPr/>
        </p:nvSpPr>
        <p:spPr>
          <a:xfrm>
            <a:off x="721733" y="5499854"/>
            <a:ext cx="3353803" cy="307777"/>
          </a:xfrm>
          <a:prstGeom prst="rect">
            <a:avLst/>
          </a:prstGeom>
        </p:spPr>
        <p:txBody>
          <a:bodyPr wrap="none">
            <a:spAutoFit/>
          </a:bodyPr>
          <a:lstStyle/>
          <a:p>
            <a:r>
              <a:rPr lang="en-US" sz="1400" b="1" i="1" dirty="0">
                <a:solidFill>
                  <a:schemeClr val="tx1">
                    <a:lumMod val="95000"/>
                    <a:lumOff val="5000"/>
                  </a:schemeClr>
                </a:solidFill>
                <a:latin typeface="Times New Roman" panose="02020603050405020304" pitchFamily="18" charset="0"/>
                <a:ea typeface="MS Mincho" panose="02020609040205080304" pitchFamily="49" charset="-128"/>
                <a:cs typeface="Times New Roman" panose="02020603050405020304" pitchFamily="18" charset="0"/>
              </a:rPr>
              <a:t>Figure 6 :</a:t>
            </a:r>
            <a:r>
              <a:rPr lang="en-US" sz="1400" b="1" i="1" dirty="0">
                <a:solidFill>
                  <a:srgbClr val="000000"/>
                </a:solidFill>
                <a:latin typeface="Times New Roman" panose="02020603050405020304" pitchFamily="18" charset="0"/>
                <a:ea typeface="MS Mincho" panose="02020609040205080304" pitchFamily="49" charset="-128"/>
                <a:cs typeface="Times New Roman" panose="02020603050405020304" pitchFamily="18" charset="0"/>
              </a:rPr>
              <a:t> Seed data generation in vs code </a:t>
            </a:r>
            <a:endParaRPr lang="en-US" sz="1400" b="1" dirty="0">
              <a:latin typeface="Times New Roman" panose="02020603050405020304" pitchFamily="18" charset="0"/>
              <a:cs typeface="Times New Roman" panose="02020603050405020304" pitchFamily="18" charset="0"/>
            </a:endParaRPr>
          </a:p>
        </p:txBody>
      </p:sp>
      <p:sp>
        <p:nvSpPr>
          <p:cNvPr id="8" name="Rectangle 7">
            <a:extLst>
              <a:ext uri="{FF2B5EF4-FFF2-40B4-BE49-F238E27FC236}">
                <a16:creationId xmlns:a16="http://schemas.microsoft.com/office/drawing/2014/main" id="{B79DC383-5CEB-43BB-A533-8BA636497D80}"/>
              </a:ext>
            </a:extLst>
          </p:cNvPr>
          <p:cNvSpPr/>
          <p:nvPr/>
        </p:nvSpPr>
        <p:spPr>
          <a:xfrm>
            <a:off x="6096000" y="5499854"/>
            <a:ext cx="3233321" cy="307777"/>
          </a:xfrm>
          <a:prstGeom prst="rect">
            <a:avLst/>
          </a:prstGeom>
        </p:spPr>
        <p:txBody>
          <a:bodyPr wrap="none">
            <a:spAutoFit/>
          </a:bodyPr>
          <a:lstStyle/>
          <a:p>
            <a:r>
              <a:rPr lang="en-US" sz="1400" b="1" i="1" dirty="0">
                <a:solidFill>
                  <a:schemeClr val="tx1">
                    <a:lumMod val="95000"/>
                    <a:lumOff val="5000"/>
                  </a:schemeClr>
                </a:solidFill>
                <a:latin typeface="Times New Roman" panose="02020603050405020304" pitchFamily="18" charset="0"/>
                <a:ea typeface="MS Mincho" panose="02020609040205080304" pitchFamily="49" charset="-128"/>
                <a:cs typeface="Times New Roman" panose="02020603050405020304" pitchFamily="18" charset="0"/>
              </a:rPr>
              <a:t>Figure 7 :</a:t>
            </a:r>
            <a:r>
              <a:rPr lang="en-US" sz="1400" b="1" i="1" dirty="0">
                <a:solidFill>
                  <a:srgbClr val="000000"/>
                </a:solidFill>
                <a:latin typeface="Times New Roman" panose="02020603050405020304" pitchFamily="18" charset="0"/>
                <a:ea typeface="MS Mincho" panose="02020609040205080304" pitchFamily="49" charset="-128"/>
                <a:cs typeface="Times New Roman" panose="02020603050405020304" pitchFamily="18" charset="0"/>
              </a:rPr>
              <a:t> Fast API running successfully</a:t>
            </a:r>
            <a:endParaRPr lang="en-US" sz="1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308570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D83DF41-B38B-45F1-BFFD-1BEB9FEAEEDA}"/>
              </a:ext>
            </a:extLst>
          </p:cNvPr>
          <p:cNvSpPr/>
          <p:nvPr/>
        </p:nvSpPr>
        <p:spPr>
          <a:xfrm>
            <a:off x="1283861" y="4768334"/>
            <a:ext cx="3004349" cy="523220"/>
          </a:xfrm>
          <a:prstGeom prst="rect">
            <a:avLst/>
          </a:prstGeom>
        </p:spPr>
        <p:txBody>
          <a:bodyPr wrap="none">
            <a:spAutoFit/>
          </a:bodyPr>
          <a:lstStyle/>
          <a:p>
            <a:r>
              <a:rPr lang="en-US" sz="1400" b="1" i="1" dirty="0">
                <a:solidFill>
                  <a:schemeClr val="tx1">
                    <a:lumMod val="95000"/>
                    <a:lumOff val="5000"/>
                  </a:schemeClr>
                </a:solidFill>
                <a:latin typeface="Times New Roman" panose="02020603050405020304" pitchFamily="18" charset="0"/>
                <a:ea typeface="MS Mincho" panose="02020609040205080304" pitchFamily="49" charset="-128"/>
                <a:cs typeface="Times New Roman" panose="02020603050405020304" pitchFamily="18" charset="0"/>
              </a:rPr>
              <a:t>Figure 8: </a:t>
            </a:r>
            <a:r>
              <a:rPr lang="en-US" sz="1400" b="1" i="1" dirty="0" err="1">
                <a:solidFill>
                  <a:schemeClr val="tx1">
                    <a:lumMod val="95000"/>
                    <a:lumOff val="5000"/>
                  </a:schemeClr>
                </a:solidFill>
                <a:latin typeface="Times New Roman" panose="02020603050405020304" pitchFamily="18" charset="0"/>
                <a:ea typeface="MS Mincho" panose="02020609040205080304" pitchFamily="49" charset="-128"/>
                <a:cs typeface="Times New Roman" panose="02020603050405020304" pitchFamily="18" charset="0"/>
              </a:rPr>
              <a:t>ngrok</a:t>
            </a:r>
            <a:r>
              <a:rPr lang="en-US" sz="1400" b="1" i="1" dirty="0">
                <a:solidFill>
                  <a:schemeClr val="tx1">
                    <a:lumMod val="95000"/>
                    <a:lumOff val="5000"/>
                  </a:schemeClr>
                </a:solidFill>
                <a:latin typeface="Times New Roman" panose="02020603050405020304" pitchFamily="18" charset="0"/>
                <a:ea typeface="MS Mincho" panose="02020609040205080304" pitchFamily="49" charset="-128"/>
                <a:cs typeface="Times New Roman" panose="02020603050405020304" pitchFamily="18" charset="0"/>
              </a:rPr>
              <a:t> running successfully </a:t>
            </a:r>
          </a:p>
          <a:p>
            <a:endParaRPr lang="en-US" sz="1400" b="1"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181F15B3-A181-467A-A4FE-A8B08A267247}"/>
              </a:ext>
            </a:extLst>
          </p:cNvPr>
          <p:cNvPicPr>
            <a:picLocks noChangeAspect="1"/>
          </p:cNvPicPr>
          <p:nvPr/>
        </p:nvPicPr>
        <p:blipFill rotWithShape="1">
          <a:blip r:embed="rId2"/>
          <a:srcRect r="24594"/>
          <a:stretch/>
        </p:blipFill>
        <p:spPr>
          <a:xfrm>
            <a:off x="289560" y="536462"/>
            <a:ext cx="5806440" cy="3870960"/>
          </a:xfrm>
          <a:prstGeom prst="rect">
            <a:avLst/>
          </a:prstGeom>
        </p:spPr>
      </p:pic>
      <p:sp>
        <p:nvSpPr>
          <p:cNvPr id="7" name="Rectangle 6">
            <a:extLst>
              <a:ext uri="{FF2B5EF4-FFF2-40B4-BE49-F238E27FC236}">
                <a16:creationId xmlns:a16="http://schemas.microsoft.com/office/drawing/2014/main" id="{C1B18601-8F78-4B8F-AC55-EFC61F6EC8F8}"/>
              </a:ext>
            </a:extLst>
          </p:cNvPr>
          <p:cNvSpPr/>
          <p:nvPr/>
        </p:nvSpPr>
        <p:spPr>
          <a:xfrm>
            <a:off x="7276652" y="4768333"/>
            <a:ext cx="6096000" cy="523220"/>
          </a:xfrm>
          <a:prstGeom prst="rect">
            <a:avLst/>
          </a:prstGeom>
        </p:spPr>
        <p:txBody>
          <a:bodyPr>
            <a:spAutoFit/>
          </a:bodyPr>
          <a:lstStyle/>
          <a:p>
            <a:r>
              <a:rPr lang="en-US" sz="1400" b="1" i="1" dirty="0">
                <a:solidFill>
                  <a:schemeClr val="tx1">
                    <a:lumMod val="95000"/>
                    <a:lumOff val="5000"/>
                  </a:schemeClr>
                </a:solidFill>
                <a:latin typeface="Times New Roman" panose="02020603050405020304" pitchFamily="18" charset="0"/>
                <a:ea typeface="MS Mincho" panose="02020609040205080304" pitchFamily="49" charset="-128"/>
                <a:cs typeface="Times New Roman" panose="02020603050405020304" pitchFamily="18" charset="0"/>
              </a:rPr>
              <a:t>Figure 9: Fast API Endpoints</a:t>
            </a:r>
          </a:p>
          <a:p>
            <a:endParaRPr lang="en-US" sz="1400" b="1"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F9FE4FC7-6650-4E64-BAE7-ACA84EB7329D}"/>
              </a:ext>
            </a:extLst>
          </p:cNvPr>
          <p:cNvPicPr>
            <a:picLocks noChangeAspect="1"/>
          </p:cNvPicPr>
          <p:nvPr/>
        </p:nvPicPr>
        <p:blipFill>
          <a:blip r:embed="rId3"/>
          <a:stretch>
            <a:fillRect/>
          </a:stretch>
        </p:blipFill>
        <p:spPr>
          <a:xfrm>
            <a:off x="6259975" y="536462"/>
            <a:ext cx="5654040" cy="3961240"/>
          </a:xfrm>
          <a:prstGeom prst="rect">
            <a:avLst/>
          </a:prstGeom>
        </p:spPr>
      </p:pic>
    </p:spTree>
    <p:extLst>
      <p:ext uri="{BB962C8B-B14F-4D97-AF65-F5344CB8AC3E}">
        <p14:creationId xmlns:p14="http://schemas.microsoft.com/office/powerpoint/2010/main" val="15802868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3997915-7C69-4C39-9775-53B94A213C40}"/>
              </a:ext>
            </a:extLst>
          </p:cNvPr>
          <p:cNvPicPr/>
          <p:nvPr/>
        </p:nvPicPr>
        <p:blipFill>
          <a:blip r:embed="rId2"/>
          <a:stretch>
            <a:fillRect/>
          </a:stretch>
        </p:blipFill>
        <p:spPr>
          <a:xfrm>
            <a:off x="226283" y="428517"/>
            <a:ext cx="5690423" cy="3858489"/>
          </a:xfrm>
          <a:prstGeom prst="rect">
            <a:avLst/>
          </a:prstGeom>
        </p:spPr>
      </p:pic>
      <p:pic>
        <p:nvPicPr>
          <p:cNvPr id="3" name="Picture 2">
            <a:extLst>
              <a:ext uri="{FF2B5EF4-FFF2-40B4-BE49-F238E27FC236}">
                <a16:creationId xmlns:a16="http://schemas.microsoft.com/office/drawing/2014/main" id="{F9EB32E5-F988-4EB0-9C84-585E38ACACE4}"/>
              </a:ext>
            </a:extLst>
          </p:cNvPr>
          <p:cNvPicPr/>
          <p:nvPr/>
        </p:nvPicPr>
        <p:blipFill rotWithShape="1">
          <a:blip r:embed="rId3"/>
          <a:srcRect l="3717" r="-1580"/>
          <a:stretch/>
        </p:blipFill>
        <p:spPr bwMode="auto">
          <a:xfrm>
            <a:off x="6096000" y="464376"/>
            <a:ext cx="5767500" cy="3858490"/>
          </a:xfrm>
          <a:prstGeom prst="rect">
            <a:avLst/>
          </a:prstGeom>
          <a:ln>
            <a:noFill/>
          </a:ln>
          <a:extLst>
            <a:ext uri="{53640926-AAD7-44D8-BBD7-CCE9431645EC}">
              <a14:shadowObscured xmlns:a14="http://schemas.microsoft.com/office/drawing/2010/main"/>
            </a:ext>
          </a:extLst>
        </p:spPr>
      </p:pic>
      <p:sp>
        <p:nvSpPr>
          <p:cNvPr id="4" name="Rectangle 3">
            <a:extLst>
              <a:ext uri="{FF2B5EF4-FFF2-40B4-BE49-F238E27FC236}">
                <a16:creationId xmlns:a16="http://schemas.microsoft.com/office/drawing/2014/main" id="{4592F478-71B6-4C38-89C2-FEF687D9A6F7}"/>
              </a:ext>
            </a:extLst>
          </p:cNvPr>
          <p:cNvSpPr/>
          <p:nvPr/>
        </p:nvSpPr>
        <p:spPr>
          <a:xfrm>
            <a:off x="786391" y="4766299"/>
            <a:ext cx="4749501" cy="738664"/>
          </a:xfrm>
          <a:prstGeom prst="rect">
            <a:avLst/>
          </a:prstGeom>
        </p:spPr>
        <p:txBody>
          <a:bodyPr wrap="square">
            <a:spAutoFit/>
          </a:bodyPr>
          <a:lstStyle/>
          <a:p>
            <a:r>
              <a:rPr lang="en-US" sz="1400" b="1" i="1" dirty="0">
                <a:solidFill>
                  <a:schemeClr val="tx1">
                    <a:lumMod val="95000"/>
                    <a:lumOff val="5000"/>
                  </a:schemeClr>
                </a:solidFill>
                <a:latin typeface="Times New Roman" panose="02020603050405020304" pitchFamily="18" charset="0"/>
                <a:ea typeface="MS Mincho" panose="02020609040205080304" pitchFamily="49" charset="-128"/>
                <a:cs typeface="Times New Roman" panose="02020603050405020304" pitchFamily="18" charset="0"/>
              </a:rPr>
              <a:t>Figure 10: fetching data from SAP Hana cloud</a:t>
            </a:r>
          </a:p>
          <a:p>
            <a:r>
              <a:rPr lang="en-US" sz="1400" b="1" i="1" dirty="0">
                <a:solidFill>
                  <a:schemeClr val="tx1">
                    <a:lumMod val="95000"/>
                    <a:lumOff val="5000"/>
                  </a:schemeClr>
                </a:solidFill>
                <a:latin typeface="Times New Roman" panose="02020603050405020304" pitchFamily="18" charset="0"/>
                <a:ea typeface="MS Mincho" panose="02020609040205080304" pitchFamily="49" charset="-128"/>
                <a:cs typeface="Times New Roman" panose="02020603050405020304" pitchFamily="18" charset="0"/>
              </a:rPr>
              <a:t>(Materials table) – Post Request</a:t>
            </a:r>
          </a:p>
          <a:p>
            <a:endParaRPr lang="en-US" sz="1400" b="1" dirty="0">
              <a:latin typeface="Times New Roman" panose="02020603050405020304" pitchFamily="18" charset="0"/>
              <a:cs typeface="Times New Roman" panose="02020603050405020304" pitchFamily="18" charset="0"/>
            </a:endParaRPr>
          </a:p>
        </p:txBody>
      </p:sp>
      <p:sp>
        <p:nvSpPr>
          <p:cNvPr id="6" name="Rectangle 5">
            <a:extLst>
              <a:ext uri="{FF2B5EF4-FFF2-40B4-BE49-F238E27FC236}">
                <a16:creationId xmlns:a16="http://schemas.microsoft.com/office/drawing/2014/main" id="{B2D3C6FB-C2D3-47BC-87B2-E6D0D51FF944}"/>
              </a:ext>
            </a:extLst>
          </p:cNvPr>
          <p:cNvSpPr/>
          <p:nvPr/>
        </p:nvSpPr>
        <p:spPr>
          <a:xfrm>
            <a:off x="7207624" y="4766299"/>
            <a:ext cx="4007224" cy="738664"/>
          </a:xfrm>
          <a:prstGeom prst="rect">
            <a:avLst/>
          </a:prstGeom>
        </p:spPr>
        <p:txBody>
          <a:bodyPr wrap="square">
            <a:spAutoFit/>
          </a:bodyPr>
          <a:lstStyle/>
          <a:p>
            <a:r>
              <a:rPr lang="en-US" sz="1400" b="1" i="1" dirty="0">
                <a:solidFill>
                  <a:schemeClr val="tx1">
                    <a:lumMod val="95000"/>
                    <a:lumOff val="5000"/>
                  </a:schemeClr>
                </a:solidFill>
                <a:latin typeface="Times New Roman" panose="02020603050405020304" pitchFamily="18" charset="0"/>
                <a:ea typeface="MS Mincho" panose="02020609040205080304" pitchFamily="49" charset="-128"/>
                <a:cs typeface="Times New Roman" panose="02020603050405020304" pitchFamily="18" charset="0"/>
              </a:rPr>
              <a:t>Figure 11: fetching data from SAP Hana cloud</a:t>
            </a:r>
          </a:p>
          <a:p>
            <a:r>
              <a:rPr lang="en-US" sz="1400" b="1" i="1" dirty="0">
                <a:solidFill>
                  <a:schemeClr val="tx1">
                    <a:lumMod val="95000"/>
                    <a:lumOff val="5000"/>
                  </a:schemeClr>
                </a:solidFill>
                <a:latin typeface="Times New Roman" panose="02020603050405020304" pitchFamily="18" charset="0"/>
                <a:ea typeface="MS Mincho" panose="02020609040205080304" pitchFamily="49" charset="-128"/>
                <a:cs typeface="Times New Roman" panose="02020603050405020304" pitchFamily="18" charset="0"/>
              </a:rPr>
              <a:t>(Materials table) –Post Response</a:t>
            </a:r>
          </a:p>
          <a:p>
            <a:endParaRPr lang="en-US" sz="1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482989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46AB97D-7D5B-42EE-9711-710C023BB7AE}"/>
              </a:ext>
            </a:extLst>
          </p:cNvPr>
          <p:cNvPicPr>
            <a:picLocks noChangeAspect="1"/>
          </p:cNvPicPr>
          <p:nvPr/>
        </p:nvPicPr>
        <p:blipFill rotWithShape="1">
          <a:blip r:embed="rId2">
            <a:extLst>
              <a:ext uri="{28A0092B-C50C-407E-A947-70E740481C1C}">
                <a14:useLocalDpi xmlns:a14="http://schemas.microsoft.com/office/drawing/2010/main" val="0"/>
              </a:ext>
            </a:extLst>
          </a:blip>
          <a:srcRect l="5962" t="2536" r="7301"/>
          <a:stretch/>
        </p:blipFill>
        <p:spPr>
          <a:xfrm>
            <a:off x="672354" y="771050"/>
            <a:ext cx="4993342" cy="2863228"/>
          </a:xfrm>
          <a:prstGeom prst="rect">
            <a:avLst/>
          </a:prstGeom>
        </p:spPr>
      </p:pic>
      <p:pic>
        <p:nvPicPr>
          <p:cNvPr id="5" name="Picture 4">
            <a:extLst>
              <a:ext uri="{FF2B5EF4-FFF2-40B4-BE49-F238E27FC236}">
                <a16:creationId xmlns:a16="http://schemas.microsoft.com/office/drawing/2014/main" id="{515183FB-BF7E-4200-A377-C10AF658872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60410" y="771050"/>
            <a:ext cx="5462013" cy="2863228"/>
          </a:xfrm>
          <a:prstGeom prst="rect">
            <a:avLst/>
          </a:prstGeom>
        </p:spPr>
      </p:pic>
      <p:pic>
        <p:nvPicPr>
          <p:cNvPr id="7" name="Picture 6">
            <a:extLst>
              <a:ext uri="{FF2B5EF4-FFF2-40B4-BE49-F238E27FC236}">
                <a16:creationId xmlns:a16="http://schemas.microsoft.com/office/drawing/2014/main" id="{06F1CBE8-B64F-4E3C-B7C3-29456642A04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72354" y="3698686"/>
            <a:ext cx="4876801" cy="2647329"/>
          </a:xfrm>
          <a:prstGeom prst="rect">
            <a:avLst/>
          </a:prstGeom>
        </p:spPr>
      </p:pic>
      <p:pic>
        <p:nvPicPr>
          <p:cNvPr id="9" name="Picture 8">
            <a:extLst>
              <a:ext uri="{FF2B5EF4-FFF2-40B4-BE49-F238E27FC236}">
                <a16:creationId xmlns:a16="http://schemas.microsoft.com/office/drawing/2014/main" id="{54B523B4-879B-4B73-81BC-2CE5CE0C539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860411" y="3634278"/>
            <a:ext cx="5462012" cy="2635796"/>
          </a:xfrm>
          <a:prstGeom prst="rect">
            <a:avLst/>
          </a:prstGeom>
        </p:spPr>
      </p:pic>
      <p:sp>
        <p:nvSpPr>
          <p:cNvPr id="10" name="TextBox 9">
            <a:extLst>
              <a:ext uri="{FF2B5EF4-FFF2-40B4-BE49-F238E27FC236}">
                <a16:creationId xmlns:a16="http://schemas.microsoft.com/office/drawing/2014/main" id="{9EEDE407-7B9E-43C0-9B87-D37EB3438826}"/>
              </a:ext>
            </a:extLst>
          </p:cNvPr>
          <p:cNvSpPr txBox="1"/>
          <p:nvPr/>
        </p:nvSpPr>
        <p:spPr>
          <a:xfrm>
            <a:off x="4473389" y="171941"/>
            <a:ext cx="2967317" cy="383913"/>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Output of all endpoints</a:t>
            </a:r>
          </a:p>
        </p:txBody>
      </p:sp>
    </p:spTree>
    <p:extLst>
      <p:ext uri="{BB962C8B-B14F-4D97-AF65-F5344CB8AC3E}">
        <p14:creationId xmlns:p14="http://schemas.microsoft.com/office/powerpoint/2010/main" val="9081115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D69618B-5F08-4753-BC3D-E21FEEDC5E9B}"/>
              </a:ext>
            </a:extLst>
          </p:cNvPr>
          <p:cNvPicPr>
            <a:picLocks noChangeAspect="1"/>
          </p:cNvPicPr>
          <p:nvPr/>
        </p:nvPicPr>
        <p:blipFill>
          <a:blip r:embed="rId2"/>
          <a:stretch>
            <a:fillRect/>
          </a:stretch>
        </p:blipFill>
        <p:spPr>
          <a:xfrm>
            <a:off x="914400" y="1303789"/>
            <a:ext cx="10749280" cy="4250422"/>
          </a:xfrm>
          <a:prstGeom prst="rect">
            <a:avLst/>
          </a:prstGeom>
        </p:spPr>
      </p:pic>
      <p:sp>
        <p:nvSpPr>
          <p:cNvPr id="3" name="TextBox 2">
            <a:extLst>
              <a:ext uri="{FF2B5EF4-FFF2-40B4-BE49-F238E27FC236}">
                <a16:creationId xmlns:a16="http://schemas.microsoft.com/office/drawing/2014/main" id="{F2081F4D-CB18-45BA-8EB8-B90AB9377157}"/>
              </a:ext>
            </a:extLst>
          </p:cNvPr>
          <p:cNvSpPr txBox="1"/>
          <p:nvPr/>
        </p:nvSpPr>
        <p:spPr>
          <a:xfrm>
            <a:off x="914400" y="436880"/>
            <a:ext cx="4826000" cy="523220"/>
          </a:xfrm>
          <a:prstGeom prst="rect">
            <a:avLst/>
          </a:prstGeom>
          <a:noFill/>
        </p:spPr>
        <p:txBody>
          <a:bodyPr wrap="square" rtlCol="0">
            <a:spAutoFit/>
          </a:bodyPr>
          <a:lstStyle/>
          <a:p>
            <a:r>
              <a:rPr lang="en-US" sz="2800" b="1" dirty="0">
                <a:latin typeface="Times New Roman" panose="02020603050405020304" pitchFamily="18" charset="0"/>
                <a:cs typeface="Times New Roman" panose="02020603050405020304" pitchFamily="18" charset="0"/>
              </a:rPr>
              <a:t>Working of the API</a:t>
            </a:r>
          </a:p>
        </p:txBody>
      </p:sp>
    </p:spTree>
    <p:extLst>
      <p:ext uri="{BB962C8B-B14F-4D97-AF65-F5344CB8AC3E}">
        <p14:creationId xmlns:p14="http://schemas.microsoft.com/office/powerpoint/2010/main" val="34295723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DDCBB94-CD89-42B2-A327-423048D83AC3}"/>
              </a:ext>
            </a:extLst>
          </p:cNvPr>
          <p:cNvSpPr txBox="1"/>
          <p:nvPr/>
        </p:nvSpPr>
        <p:spPr>
          <a:xfrm>
            <a:off x="567159" y="381965"/>
            <a:ext cx="6309360" cy="523220"/>
          </a:xfrm>
          <a:prstGeom prst="rect">
            <a:avLst/>
          </a:prstGeom>
          <a:noFill/>
        </p:spPr>
        <p:txBody>
          <a:bodyPr wrap="square" rtlCol="0">
            <a:spAutoFit/>
          </a:bodyPr>
          <a:lstStyle/>
          <a:p>
            <a:r>
              <a:rPr lang="en-US" sz="2800" b="1" dirty="0">
                <a:latin typeface="Times New Roman" panose="02020603050405020304" pitchFamily="18" charset="0"/>
                <a:cs typeface="Times New Roman" panose="02020603050405020304" pitchFamily="18" charset="0"/>
              </a:rPr>
              <a:t>SAP BTP Destination Creation</a:t>
            </a:r>
          </a:p>
        </p:txBody>
      </p:sp>
      <p:pic>
        <p:nvPicPr>
          <p:cNvPr id="4" name="Picture 3">
            <a:extLst>
              <a:ext uri="{FF2B5EF4-FFF2-40B4-BE49-F238E27FC236}">
                <a16:creationId xmlns:a16="http://schemas.microsoft.com/office/drawing/2014/main" id="{2857F98A-3A51-4E7E-8FED-48865F5FD7DC}"/>
              </a:ext>
            </a:extLst>
          </p:cNvPr>
          <p:cNvPicPr>
            <a:picLocks noChangeAspect="1"/>
          </p:cNvPicPr>
          <p:nvPr/>
        </p:nvPicPr>
        <p:blipFill>
          <a:blip r:embed="rId2"/>
          <a:stretch>
            <a:fillRect/>
          </a:stretch>
        </p:blipFill>
        <p:spPr>
          <a:xfrm>
            <a:off x="721359" y="1186658"/>
            <a:ext cx="11242859" cy="4690608"/>
          </a:xfrm>
          <a:prstGeom prst="rect">
            <a:avLst/>
          </a:prstGeom>
        </p:spPr>
      </p:pic>
    </p:spTree>
    <p:extLst>
      <p:ext uri="{BB962C8B-B14F-4D97-AF65-F5344CB8AC3E}">
        <p14:creationId xmlns:p14="http://schemas.microsoft.com/office/powerpoint/2010/main" val="4851875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AC9B122-CEF4-4822-A6BC-2BEC899D799F}"/>
              </a:ext>
            </a:extLst>
          </p:cNvPr>
          <p:cNvPicPr/>
          <p:nvPr/>
        </p:nvPicPr>
        <p:blipFill rotWithShape="1">
          <a:blip r:embed="rId2"/>
          <a:srcRect b="2382"/>
          <a:stretch/>
        </p:blipFill>
        <p:spPr bwMode="auto">
          <a:xfrm>
            <a:off x="5933404" y="282613"/>
            <a:ext cx="5740490" cy="2648094"/>
          </a:xfrm>
          <a:prstGeom prst="rect">
            <a:avLst/>
          </a:prstGeom>
          <a:ln>
            <a:noFill/>
          </a:ln>
          <a:extLst>
            <a:ext uri="{53640926-AAD7-44D8-BBD7-CCE9431645EC}">
              <a14:shadowObscured xmlns:a14="http://schemas.microsoft.com/office/drawing/2010/main"/>
            </a:ext>
          </a:extLst>
        </p:spPr>
      </p:pic>
      <p:pic>
        <p:nvPicPr>
          <p:cNvPr id="3" name="Picture 2">
            <a:extLst>
              <a:ext uri="{FF2B5EF4-FFF2-40B4-BE49-F238E27FC236}">
                <a16:creationId xmlns:a16="http://schemas.microsoft.com/office/drawing/2014/main" id="{A945646D-013B-4B2D-9767-6F42E82BE4C8}"/>
              </a:ext>
            </a:extLst>
          </p:cNvPr>
          <p:cNvPicPr/>
          <p:nvPr/>
        </p:nvPicPr>
        <p:blipFill>
          <a:blip r:embed="rId3"/>
          <a:stretch>
            <a:fillRect/>
          </a:stretch>
        </p:blipFill>
        <p:spPr>
          <a:xfrm>
            <a:off x="186297" y="246754"/>
            <a:ext cx="5577895" cy="4673467"/>
          </a:xfrm>
          <a:prstGeom prst="rect">
            <a:avLst/>
          </a:prstGeom>
        </p:spPr>
      </p:pic>
      <p:sp>
        <p:nvSpPr>
          <p:cNvPr id="4" name="Rectangle 3">
            <a:extLst>
              <a:ext uri="{FF2B5EF4-FFF2-40B4-BE49-F238E27FC236}">
                <a16:creationId xmlns:a16="http://schemas.microsoft.com/office/drawing/2014/main" id="{8B1C9CDD-B02A-4586-B049-2D17D21FB5FC}"/>
              </a:ext>
            </a:extLst>
          </p:cNvPr>
          <p:cNvSpPr/>
          <p:nvPr/>
        </p:nvSpPr>
        <p:spPr>
          <a:xfrm>
            <a:off x="357454" y="5433027"/>
            <a:ext cx="4976546" cy="307777"/>
          </a:xfrm>
          <a:prstGeom prst="rect">
            <a:avLst/>
          </a:prstGeom>
        </p:spPr>
        <p:txBody>
          <a:bodyPr wrap="square">
            <a:spAutoFit/>
          </a:bodyPr>
          <a:lstStyle/>
          <a:p>
            <a:r>
              <a:rPr lang="en-US" sz="1400" b="1" i="1" dirty="0">
                <a:solidFill>
                  <a:schemeClr val="tx1">
                    <a:lumMod val="95000"/>
                    <a:lumOff val="5000"/>
                  </a:schemeClr>
                </a:solidFill>
                <a:latin typeface="Times New Roman" panose="02020603050405020304" pitchFamily="18" charset="0"/>
                <a:ea typeface="MS Mincho" panose="02020609040205080304" pitchFamily="49" charset="-128"/>
                <a:cs typeface="Times New Roman" panose="02020603050405020304" pitchFamily="18" charset="0"/>
              </a:rPr>
              <a:t>Figure 12: Response grounding from SAP Hana Cloud</a:t>
            </a:r>
            <a:endParaRPr lang="en-US" sz="1400" b="1" dirty="0">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A30E4F34-7F5F-41DD-BB4F-FED1A04DA57A}"/>
              </a:ext>
            </a:extLst>
          </p:cNvPr>
          <p:cNvSpPr/>
          <p:nvPr/>
        </p:nvSpPr>
        <p:spPr>
          <a:xfrm>
            <a:off x="6107574" y="5433028"/>
            <a:ext cx="6096000" cy="307777"/>
          </a:xfrm>
          <a:prstGeom prst="rect">
            <a:avLst/>
          </a:prstGeom>
        </p:spPr>
        <p:txBody>
          <a:bodyPr>
            <a:spAutoFit/>
          </a:bodyPr>
          <a:lstStyle/>
          <a:p>
            <a:r>
              <a:rPr lang="en-US" sz="1400" b="1" i="1" dirty="0">
                <a:solidFill>
                  <a:schemeClr val="tx1">
                    <a:lumMod val="95000"/>
                    <a:lumOff val="5000"/>
                  </a:schemeClr>
                </a:solidFill>
                <a:latin typeface="Times New Roman" panose="02020603050405020304" pitchFamily="18" charset="0"/>
                <a:ea typeface="MS Mincho" panose="02020609040205080304" pitchFamily="49" charset="-128"/>
                <a:cs typeface="Times New Roman" panose="02020603050405020304" pitchFamily="18" charset="0"/>
              </a:rPr>
              <a:t>Figure 13: SAP BTP connection for Fast API /MCP Server </a:t>
            </a:r>
            <a:endParaRPr lang="en-US" sz="1400" b="1"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06291C67-D724-43EB-98CB-27D0B511A4AB}"/>
              </a:ext>
            </a:extLst>
          </p:cNvPr>
          <p:cNvPicPr/>
          <p:nvPr/>
        </p:nvPicPr>
        <p:blipFill>
          <a:blip r:embed="rId4"/>
          <a:stretch>
            <a:fillRect/>
          </a:stretch>
        </p:blipFill>
        <p:spPr>
          <a:xfrm>
            <a:off x="6107574" y="3112217"/>
            <a:ext cx="5577895" cy="2158494"/>
          </a:xfrm>
          <a:prstGeom prst="rect">
            <a:avLst/>
          </a:prstGeom>
        </p:spPr>
      </p:pic>
    </p:spTree>
    <p:extLst>
      <p:ext uri="{BB962C8B-B14F-4D97-AF65-F5344CB8AC3E}">
        <p14:creationId xmlns:p14="http://schemas.microsoft.com/office/powerpoint/2010/main" val="35772222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95ED010-F107-45B7-A4E4-BF91A45AE8E7}"/>
              </a:ext>
            </a:extLst>
          </p:cNvPr>
          <p:cNvPicPr/>
          <p:nvPr/>
        </p:nvPicPr>
        <p:blipFill>
          <a:blip r:embed="rId2"/>
          <a:stretch>
            <a:fillRect/>
          </a:stretch>
        </p:blipFill>
        <p:spPr>
          <a:xfrm>
            <a:off x="484990" y="1125638"/>
            <a:ext cx="6309359" cy="2589836"/>
          </a:xfrm>
          <a:prstGeom prst="rect">
            <a:avLst/>
          </a:prstGeom>
        </p:spPr>
      </p:pic>
      <p:pic>
        <p:nvPicPr>
          <p:cNvPr id="3" name="Picture 2">
            <a:extLst>
              <a:ext uri="{FF2B5EF4-FFF2-40B4-BE49-F238E27FC236}">
                <a16:creationId xmlns:a16="http://schemas.microsoft.com/office/drawing/2014/main" id="{861CD021-8DA6-49C0-B4FB-3E4211C19C7F}"/>
              </a:ext>
            </a:extLst>
          </p:cNvPr>
          <p:cNvPicPr/>
          <p:nvPr/>
        </p:nvPicPr>
        <p:blipFill>
          <a:blip r:embed="rId3"/>
          <a:stretch>
            <a:fillRect/>
          </a:stretch>
        </p:blipFill>
        <p:spPr>
          <a:xfrm>
            <a:off x="484990" y="3831220"/>
            <a:ext cx="6309360" cy="2424401"/>
          </a:xfrm>
          <a:prstGeom prst="rect">
            <a:avLst/>
          </a:prstGeom>
        </p:spPr>
      </p:pic>
      <p:pic>
        <p:nvPicPr>
          <p:cNvPr id="5" name="Picture 4">
            <a:extLst>
              <a:ext uri="{FF2B5EF4-FFF2-40B4-BE49-F238E27FC236}">
                <a16:creationId xmlns:a16="http://schemas.microsoft.com/office/drawing/2014/main" id="{5AA3E8EF-70F0-4FAE-961D-25114167F57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131162" y="1914625"/>
            <a:ext cx="4668520" cy="2885727"/>
          </a:xfrm>
          <a:prstGeom prst="rect">
            <a:avLst/>
          </a:prstGeom>
        </p:spPr>
      </p:pic>
      <p:sp>
        <p:nvSpPr>
          <p:cNvPr id="6" name="TextBox 5">
            <a:extLst>
              <a:ext uri="{FF2B5EF4-FFF2-40B4-BE49-F238E27FC236}">
                <a16:creationId xmlns:a16="http://schemas.microsoft.com/office/drawing/2014/main" id="{217A6735-FA6E-4851-918D-13D37476909A}"/>
              </a:ext>
            </a:extLst>
          </p:cNvPr>
          <p:cNvSpPr txBox="1"/>
          <p:nvPr/>
        </p:nvSpPr>
        <p:spPr>
          <a:xfrm>
            <a:off x="1226914" y="287795"/>
            <a:ext cx="10197297"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SAP Build Lobby — Joule Skill creation attempt via SAP Trial Workbook</a:t>
            </a:r>
          </a:p>
        </p:txBody>
      </p:sp>
    </p:spTree>
    <p:extLst>
      <p:ext uri="{BB962C8B-B14F-4D97-AF65-F5344CB8AC3E}">
        <p14:creationId xmlns:p14="http://schemas.microsoft.com/office/powerpoint/2010/main" val="25255820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301952F6-3B60-4DA9-AFD2-A2DEB88852B5}"/>
              </a:ext>
            </a:extLst>
          </p:cNvPr>
          <p:cNvSpPr/>
          <p:nvPr/>
        </p:nvSpPr>
        <p:spPr>
          <a:xfrm>
            <a:off x="475129" y="1380687"/>
            <a:ext cx="11636187" cy="376834"/>
          </a:xfrm>
          <a:prstGeom prst="rect">
            <a:avLst/>
          </a:prstGeom>
        </p:spPr>
        <p:txBody>
          <a:bodyPr wrap="square">
            <a:spAutoFit/>
          </a:bodyPr>
          <a:lstStyle/>
          <a:p>
            <a:pPr>
              <a:lnSpc>
                <a:spcPct val="150000"/>
              </a:lnSpc>
            </a:pPr>
            <a:endParaRPr lang="en-US" sz="1400" dirty="0">
              <a:latin typeface="Times New Roman" panose="02020603050405020304" pitchFamily="18" charset="0"/>
              <a:cs typeface="Times New Roman" panose="02020603050405020304" pitchFamily="18" charset="0"/>
            </a:endParaRPr>
          </a:p>
        </p:txBody>
      </p:sp>
      <p:sp>
        <p:nvSpPr>
          <p:cNvPr id="6" name="Rectangle 2">
            <a:extLst>
              <a:ext uri="{FF2B5EF4-FFF2-40B4-BE49-F238E27FC236}">
                <a16:creationId xmlns:a16="http://schemas.microsoft.com/office/drawing/2014/main" id="{97EF740E-E1C4-46F6-9E43-28E25FCA4ACD}"/>
              </a:ext>
            </a:extLst>
          </p:cNvPr>
          <p:cNvSpPr>
            <a:spLocks noChangeArrowheads="1"/>
          </p:cNvSpPr>
          <p:nvPr/>
        </p:nvSpPr>
        <p:spPr bwMode="auto">
          <a:xfrm>
            <a:off x="322729" y="749072"/>
            <a:ext cx="11546541" cy="55880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This capstone project successfully delivers a production-ready blueprint for an Enterprise AI Assistant architecture integrated with SAP BTP and SAP HANA Cloud. </a:t>
            </a:r>
            <a:r>
              <a:rPr kumimoji="0" lang="en-US" altLang="en-US" sz="16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JouleOps</a:t>
            </a:r>
            <a:r>
              <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a:t>
            </a:r>
            <a:r>
              <a:rPr kumimoji="0" lang="en-US" altLang="en-US" sz="16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NorthWind</a:t>
            </a:r>
            <a:r>
              <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Manufacturing demonstrates how enterprise business data can be exposed through a secure, API-driven architecture using Python </a:t>
            </a:r>
            <a:r>
              <a:rPr kumimoji="0" lang="en-US" altLang="en-US" sz="16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FastAPI</a:t>
            </a:r>
            <a:r>
              <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SAP HANA Cloud, SAP BTP Destinations, and MCP-based tools.</a:t>
            </a: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project provides a structured approach for accessing operational information such as material details, customer summaries, sales orders, invoices, and service tickets without directly exposing HANA credentials to external consumers. </a:t>
            </a:r>
            <a:r>
              <a:rPr kumimoji="0" lang="en-US" altLang="en-US" sz="16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FastAPI</a:t>
            </a:r>
            <a:r>
              <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acts as the business API layer, while SAP BTP Destinations provide controlled connectivity between the SAP environment and backend services. The architecture also supports governed access through clearly defined business operations and audit logging through the AUDIT_LOG table.</a:t>
            </a: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project further demonstrates the use of dual integration paths — REST-based Actions and MCP Server tools — over the same HANA backend. REST Actions provide structured BTP-based connectivity and discoverability, while MCP tools provide a standardized and extensible approach for exposing business capabilities to compatible clients. The implementation was validated through SAP HANA Cloud, </a:t>
            </a:r>
            <a:r>
              <a:rPr kumimoji="0" lang="en-US" altLang="en-US" sz="16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FastAPI</a:t>
            </a:r>
            <a:r>
              <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endpoints, Swagger UI, synthetic enterprise data, MCP Server integration, and SAP BTP Destination connectivity. Although live Joule Agent/Chat access was limited by the available SAP BTP trial/tenant subscription, the completed backend architecture and integration components demonstrate a functional and deployment-ready foundation for extending the solution to a fully agentic SAP Joule environment when the required Joule capabilities are available.</a:t>
            </a:r>
          </a:p>
        </p:txBody>
      </p:sp>
      <p:sp>
        <p:nvSpPr>
          <p:cNvPr id="7" name="TextBox 6">
            <a:extLst>
              <a:ext uri="{FF2B5EF4-FFF2-40B4-BE49-F238E27FC236}">
                <a16:creationId xmlns:a16="http://schemas.microsoft.com/office/drawing/2014/main" id="{38533F37-D400-463C-B442-D832D3C2B360}"/>
              </a:ext>
            </a:extLst>
          </p:cNvPr>
          <p:cNvSpPr txBox="1"/>
          <p:nvPr/>
        </p:nvSpPr>
        <p:spPr>
          <a:xfrm>
            <a:off x="578734" y="158045"/>
            <a:ext cx="4259484" cy="523220"/>
          </a:xfrm>
          <a:prstGeom prst="rect">
            <a:avLst/>
          </a:prstGeom>
          <a:noFill/>
        </p:spPr>
        <p:txBody>
          <a:bodyPr wrap="square" rtlCol="0">
            <a:spAutoFit/>
          </a:bodyPr>
          <a:lstStyle/>
          <a:p>
            <a:r>
              <a:rPr lang="en-US" sz="2800" b="1" dirty="0">
                <a:latin typeface="Times New Roman" panose="02020603050405020304" pitchFamily="18" charset="0"/>
                <a:cs typeface="Times New Roman" panose="02020603050405020304" pitchFamily="18" charset="0"/>
              </a:rPr>
              <a:t>Conclusion</a:t>
            </a:r>
          </a:p>
        </p:txBody>
      </p:sp>
    </p:spTree>
    <p:extLst>
      <p:ext uri="{BB962C8B-B14F-4D97-AF65-F5344CB8AC3E}">
        <p14:creationId xmlns:p14="http://schemas.microsoft.com/office/powerpoint/2010/main" val="67488448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517AB4F-5DC9-4FA4-BFB9-7F467675CC9A}"/>
              </a:ext>
            </a:extLst>
          </p:cNvPr>
          <p:cNvSpPr/>
          <p:nvPr/>
        </p:nvSpPr>
        <p:spPr>
          <a:xfrm>
            <a:off x="860612" y="1136321"/>
            <a:ext cx="8615082" cy="458074"/>
          </a:xfrm>
          <a:prstGeom prst="rect">
            <a:avLst/>
          </a:prstGeom>
        </p:spPr>
        <p:txBody>
          <a:bodyPr wrap="square">
            <a:spAutoFit/>
          </a:bodyPr>
          <a:lstStyle/>
          <a:p>
            <a:pPr algn="just">
              <a:lnSpc>
                <a:spcPct val="150000"/>
              </a:lnSpc>
            </a:pPr>
            <a:endParaRPr lang="en-US" dirty="0">
              <a:latin typeface="Times New Roman" panose="02020603050405020304" pitchFamily="18" charset="0"/>
              <a:cs typeface="Times New Roman" panose="02020603050405020304" pitchFamily="18" charset="0"/>
            </a:endParaRPr>
          </a:p>
        </p:txBody>
      </p:sp>
      <p:sp>
        <p:nvSpPr>
          <p:cNvPr id="7" name="Rectangle 4">
            <a:extLst>
              <a:ext uri="{FF2B5EF4-FFF2-40B4-BE49-F238E27FC236}">
                <a16:creationId xmlns:a16="http://schemas.microsoft.com/office/drawing/2014/main" id="{3F568466-DD70-486C-BB66-6547DBAC0432}"/>
              </a:ext>
            </a:extLst>
          </p:cNvPr>
          <p:cNvSpPr>
            <a:spLocks noChangeArrowheads="1"/>
          </p:cNvSpPr>
          <p:nvPr/>
        </p:nvSpPr>
        <p:spPr bwMode="auto">
          <a:xfrm>
            <a:off x="826662" y="457172"/>
            <a:ext cx="10504726" cy="31818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Future Enhancements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Multi-agent orchestration:</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 dedicated Finance Sub-Agent for Anil registered as a sub-agent tool.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Vector search:</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SAP HANA Cloud Vector Engine for semantic ticket history lookup.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SAPUI5 / Fiori audit dashboard:</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Reading AUDIT_LOG in real time.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CI/CD:</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GitHub Actions pipeline deploying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FastAPI</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MCP to Cloud Foundry on every push to main.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Bilingual support:</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English + Hindi or Tamil for plant supervisors like Ramesh. </a:t>
            </a:r>
          </a:p>
          <a:p>
            <a:pPr marL="0" marR="0" lvl="0" indent="0" algn="just" defTabSz="914400" rtl="0" eaLnBrk="0" fontAlgn="base" latinLnBrk="0" hangingPunct="0">
              <a:lnSpc>
                <a:spcPct val="15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61E60132-9C8B-4E0A-9B0E-D4CAEF40ACA7}"/>
              </a:ext>
            </a:extLst>
          </p:cNvPr>
          <p:cNvSpPr txBox="1"/>
          <p:nvPr/>
        </p:nvSpPr>
        <p:spPr>
          <a:xfrm>
            <a:off x="8600274" y="4981869"/>
            <a:ext cx="2731114" cy="923330"/>
          </a:xfrm>
          <a:prstGeom prst="rect">
            <a:avLst/>
          </a:prstGeom>
          <a:noFill/>
        </p:spPr>
        <p:txBody>
          <a:bodyPr wrap="square" rtlCol="0">
            <a:spAutoFit/>
          </a:bodyPr>
          <a:lstStyle/>
          <a:p>
            <a:r>
              <a:rPr lang="en-US" b="1" dirty="0">
                <a:solidFill>
                  <a:schemeClr val="bg2">
                    <a:lumMod val="50000"/>
                  </a:schemeClr>
                </a:solidFill>
                <a:latin typeface="Times New Roman" panose="02020603050405020304" pitchFamily="18" charset="0"/>
                <a:cs typeface="Times New Roman" panose="02020603050405020304" pitchFamily="18" charset="0"/>
              </a:rPr>
              <a:t>Thankyou ,</a:t>
            </a:r>
          </a:p>
          <a:p>
            <a:r>
              <a:rPr lang="en-US" b="1" dirty="0">
                <a:solidFill>
                  <a:schemeClr val="bg2">
                    <a:lumMod val="50000"/>
                  </a:schemeClr>
                </a:solidFill>
                <a:latin typeface="Times New Roman" panose="02020603050405020304" pitchFamily="18" charset="0"/>
                <a:cs typeface="Times New Roman" panose="02020603050405020304" pitchFamily="18" charset="0"/>
              </a:rPr>
              <a:t>Mounika D</a:t>
            </a:r>
          </a:p>
          <a:p>
            <a:r>
              <a:rPr lang="en-US" b="1" dirty="0">
                <a:solidFill>
                  <a:schemeClr val="bg2">
                    <a:lumMod val="50000"/>
                  </a:schemeClr>
                </a:solidFill>
                <a:latin typeface="Times New Roman" panose="02020603050405020304" pitchFamily="18" charset="0"/>
                <a:cs typeface="Times New Roman" panose="02020603050405020304" pitchFamily="18" charset="0"/>
              </a:rPr>
              <a:t>SAP BTP AI Development</a:t>
            </a:r>
          </a:p>
        </p:txBody>
      </p:sp>
    </p:spTree>
    <p:extLst>
      <p:ext uri="{BB962C8B-B14F-4D97-AF65-F5344CB8AC3E}">
        <p14:creationId xmlns:p14="http://schemas.microsoft.com/office/powerpoint/2010/main" val="3036935543"/>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Retrospect</Template>
  <TotalTime>567</TotalTime>
  <Words>1472</Words>
  <Application>Microsoft Office PowerPoint</Application>
  <PresentationFormat>Widescreen</PresentationFormat>
  <Paragraphs>89</Paragraphs>
  <Slides>23</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23</vt:i4>
      </vt:variant>
    </vt:vector>
  </HeadingPairs>
  <TitlesOfParts>
    <vt:vector size="30" baseType="lpstr">
      <vt:lpstr>MS Gothic</vt:lpstr>
      <vt:lpstr>MS Mincho</vt:lpstr>
      <vt:lpstr>Arial</vt:lpstr>
      <vt:lpstr>Calibri</vt:lpstr>
      <vt:lpstr>Calibri Light</vt:lpstr>
      <vt:lpstr>Times New Roman</vt:lpstr>
      <vt:lpstr>Retrospect</vt:lpstr>
      <vt:lpstr>JouleOps @ Northwind Manufacturing  Agentic AI Enterprise Assistant System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JouleOps @ NorthWind Manufacturing  Agentic AI Enterprise Assistant System</dc:title>
  <dc:creator>HP</dc:creator>
  <cp:lastModifiedBy>HP</cp:lastModifiedBy>
  <cp:revision>33</cp:revision>
  <dcterms:created xsi:type="dcterms:W3CDTF">2026-08-15T04:25:26Z</dcterms:created>
  <dcterms:modified xsi:type="dcterms:W3CDTF">2026-08-16T06:18:06Z</dcterms:modified>
</cp:coreProperties>
</file>